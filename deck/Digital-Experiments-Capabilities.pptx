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14131A"/>
        </a:solidFill>
        <a:effectLst/>
      </p:bgPr>
    </p:bg>
    <p:spTree>
      <p:nvGrpSpPr>
        <p:cNvPr id="1" name=""/>
        <p:cNvGrpSpPr/>
        <p:nvPr/>
      </p:nvGrpSpPr>
      <p:grpSpPr/>
      <p:sp>
        <p:nvSpPr>
          <p:cNvPr id="2" name="TextBox 1"/>
          <p:cNvSpPr txBox="1"/>
          <p:nvPr/>
        </p:nvSpPr>
        <p:spPr>
          <a:xfrm>
            <a:off x="841248" y="457200"/>
            <a:ext cx="6305519" cy="365760"/>
          </a:xfrm>
          <a:prstGeom prst="rect">
            <a:avLst/>
          </a:prstGeom>
          <a:noFill/>
        </p:spPr>
        <p:txBody>
          <a:bodyPr wrap="square" anchor="t" lIns="0" rIns="0" tIns="0" bIns="0">
            <a:spAutoFit/>
          </a:bodyPr>
          <a:lstStyle/>
          <a:p>
            <a:pPr algn="l">
              <a:spcAft>
                <a:spcPts val="0"/>
              </a:spcAft>
            </a:pPr>
            <a:r>
              <a:rPr sz="1300" b="1">
                <a:solidFill>
                  <a:srgbClr val="F5F4F7"/>
                </a:solidFill>
                <a:latin typeface="Playfair Display"/>
              </a:rPr>
              <a:t>Digital</a:t>
            </a:r>
            <a:r>
              <a:rPr sz="1300" b="0">
                <a:solidFill>
                  <a:srgbClr val="B5B2C2"/>
                </a:solidFill>
                <a:latin typeface="Playfair Display"/>
              </a:rPr>
              <a:t> Experiments</a:t>
            </a:r>
          </a:p>
        </p:txBody>
      </p:sp>
      <p:sp>
        <p:nvSpPr>
          <p:cNvPr id="3" name="TextBox 2"/>
          <p:cNvSpPr txBox="1"/>
          <p:nvPr/>
        </p:nvSpPr>
        <p:spPr>
          <a:xfrm>
            <a:off x="7146767" y="457200"/>
            <a:ext cx="4203679" cy="365760"/>
          </a:xfrm>
          <a:prstGeom prst="rect">
            <a:avLst/>
          </a:prstGeom>
          <a:noFill/>
        </p:spPr>
        <p:txBody>
          <a:bodyPr wrap="square" anchor="t" lIns="0" rIns="0" tIns="0" bIns="0">
            <a:spAutoFit/>
          </a:bodyPr>
          <a:lstStyle/>
          <a:p>
            <a:pPr algn="r">
              <a:spcAft>
                <a:spcPts val="0"/>
              </a:spcAft>
            </a:pPr>
            <a:r>
              <a:rPr sz="1050" b="0" spc="120">
                <a:solidFill>
                  <a:srgbClr val="B5B2C2"/>
                </a:solidFill>
                <a:latin typeface="JetBrains Mono"/>
              </a:rPr>
              <a:t>Capabilities</a:t>
            </a:r>
          </a:p>
        </p:txBody>
      </p:sp>
      <p:sp>
        <p:nvSpPr>
          <p:cNvPr id="4" name="TextBox 3"/>
          <p:cNvSpPr txBox="1"/>
          <p:nvPr/>
        </p:nvSpPr>
        <p:spPr>
          <a:xfrm>
            <a:off x="841248" y="1828800"/>
            <a:ext cx="10509199" cy="3291840"/>
          </a:xfrm>
          <a:prstGeom prst="rect">
            <a:avLst/>
          </a:prstGeom>
          <a:noFill/>
        </p:spPr>
        <p:txBody>
          <a:bodyPr wrap="square" anchor="t" lIns="0" rIns="0" tIns="0" bIns="0">
            <a:spAutoFit/>
          </a:bodyPr>
          <a:lstStyle/>
          <a:p>
            <a:pPr algn="l">
              <a:spcAft>
                <a:spcPts val="1000"/>
              </a:spcAft>
            </a:pPr>
            <a:r>
              <a:rPr sz="1150" b="0" spc="180">
                <a:solidFill>
                  <a:srgbClr val="B9B5F4"/>
                </a:solidFill>
                <a:latin typeface="JetBrains Mono"/>
              </a:rPr>
              <a:t>BESPOKE GAME UX &amp; PLAYER RESEARCH</a:t>
            </a:r>
          </a:p>
          <a:p>
            <a:pPr algn="l">
              <a:lnSpc>
                <a:spcPct val="102000"/>
              </a:lnSpc>
              <a:spcAft>
                <a:spcPts val="0"/>
              </a:spcAft>
            </a:pPr>
            <a:r>
              <a:rPr sz="5400" b="0">
                <a:solidFill>
                  <a:srgbClr val="F5F4F7"/>
                </a:solidFill>
                <a:latin typeface="Playfair Display"/>
              </a:rPr>
              <a:t>better design,</a:t>
            </a:r>
          </a:p>
          <a:p>
            <a:pPr algn="l">
              <a:lnSpc>
                <a:spcPct val="102000"/>
              </a:lnSpc>
              <a:spcAft>
                <a:spcPts val="1400"/>
              </a:spcAft>
            </a:pPr>
            <a:r>
              <a:rPr sz="5400" b="0">
                <a:solidFill>
                  <a:srgbClr val="F5F4F7"/>
                </a:solidFill>
                <a:latin typeface="Playfair Display"/>
              </a:rPr>
              <a:t>better games.</a:t>
            </a:r>
          </a:p>
          <a:p>
            <a:pPr algn="l">
              <a:lnSpc>
                <a:spcPct val="130000"/>
              </a:lnSpc>
              <a:spcAft>
                <a:spcPts val="1400"/>
              </a:spcAft>
            </a:pPr>
            <a:r>
              <a:rPr sz="1800" b="0">
                <a:solidFill>
                  <a:srgbClr val="B5B2C2"/>
                </a:solidFill>
                <a:latin typeface="Inter"/>
              </a:rPr>
              <a:t>Digital Experiments is a third-party developer providing bespoke user experience design for video game studios — from tactical UX/UI execution to senior-level strategic UX.</a:t>
            </a:r>
          </a:p>
          <a:p>
            <a:pPr algn="l">
              <a:spcAft>
                <a:spcPts val="600"/>
              </a:spcAft>
            </a:pPr>
            <a:r>
              <a:rPr sz="1400" b="0">
                <a:solidFill>
                  <a:srgbClr val="B5B2C2"/>
                </a:solidFill>
                <a:latin typeface="JetBrains Mono"/>
              </a:rPr>
              <a:t>www.digitalexperiments.com</a:t>
            </a:r>
          </a:p>
        </p:txBody>
      </p:sp>
      <p:sp>
        <p:nvSpPr>
          <p:cNvPr id="5" name="TextBox 4"/>
          <p:cNvSpPr txBox="1"/>
          <p:nvPr/>
        </p:nvSpPr>
        <p:spPr>
          <a:xfrm>
            <a:off x="10253167" y="6199632"/>
            <a:ext cx="1097280" cy="320040"/>
          </a:xfrm>
          <a:prstGeom prst="rect">
            <a:avLst/>
          </a:prstGeom>
          <a:noFill/>
        </p:spPr>
        <p:txBody>
          <a:bodyPr wrap="square" anchor="t" lIns="0" rIns="0" tIns="0" bIns="0">
            <a:spAutoFit/>
          </a:bodyPr>
          <a:lstStyle/>
          <a:p>
            <a:pPr algn="r">
              <a:spcAft>
                <a:spcPts val="0"/>
              </a:spcAft>
            </a:pPr>
            <a:r>
              <a:rPr sz="1000" b="0">
                <a:solidFill>
                  <a:srgbClr val="B5B2C2"/>
                </a:solidFill>
                <a:latin typeface="JetBrains Mono"/>
              </a:rPr>
              <a:t>01</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841248" y="457200"/>
            <a:ext cx="6305519" cy="365760"/>
          </a:xfrm>
          <a:prstGeom prst="rect">
            <a:avLst/>
          </a:prstGeom>
          <a:noFill/>
        </p:spPr>
        <p:txBody>
          <a:bodyPr wrap="square" anchor="t" lIns="0" rIns="0" tIns="0" bIns="0">
            <a:spAutoFit/>
          </a:bodyPr>
          <a:lstStyle/>
          <a:p>
            <a:pPr algn="l">
              <a:spcAft>
                <a:spcPts val="0"/>
              </a:spcAft>
            </a:pPr>
            <a:r>
              <a:rPr sz="1300" b="1">
                <a:solidFill>
                  <a:srgbClr val="14131A"/>
                </a:solidFill>
                <a:latin typeface="Playfair Display"/>
              </a:rPr>
              <a:t>Digital</a:t>
            </a:r>
            <a:r>
              <a:rPr sz="1300" b="0">
                <a:solidFill>
                  <a:srgbClr val="6C6A76"/>
                </a:solidFill>
                <a:latin typeface="Playfair Display"/>
              </a:rPr>
              <a:t> Experiments</a:t>
            </a:r>
          </a:p>
        </p:txBody>
      </p:sp>
      <p:sp>
        <p:nvSpPr>
          <p:cNvPr id="3" name="TextBox 2"/>
          <p:cNvSpPr txBox="1"/>
          <p:nvPr/>
        </p:nvSpPr>
        <p:spPr>
          <a:xfrm>
            <a:off x="7146767" y="457200"/>
            <a:ext cx="4203679" cy="365760"/>
          </a:xfrm>
          <a:prstGeom prst="rect">
            <a:avLst/>
          </a:prstGeom>
          <a:noFill/>
        </p:spPr>
        <p:txBody>
          <a:bodyPr wrap="square" anchor="t" lIns="0" rIns="0" tIns="0" bIns="0">
            <a:spAutoFit/>
          </a:bodyPr>
          <a:lstStyle/>
          <a:p>
            <a:pPr algn="r">
              <a:spcAft>
                <a:spcPts val="0"/>
              </a:spcAft>
            </a:pPr>
            <a:r>
              <a:rPr sz="1050" b="0" spc="120">
                <a:solidFill>
                  <a:srgbClr val="6C6A76"/>
                </a:solidFill>
                <a:latin typeface="JetBrains Mono"/>
              </a:rPr>
              <a:t>Capabilities</a:t>
            </a:r>
          </a:p>
        </p:txBody>
      </p:sp>
      <p:sp>
        <p:nvSpPr>
          <p:cNvPr id="4" name="TextBox 3"/>
          <p:cNvSpPr txBox="1"/>
          <p:nvPr/>
        </p:nvSpPr>
        <p:spPr>
          <a:xfrm>
            <a:off x="841248" y="1234440"/>
            <a:ext cx="10509199" cy="1280160"/>
          </a:xfrm>
          <a:prstGeom prst="rect">
            <a:avLst/>
          </a:prstGeom>
          <a:noFill/>
        </p:spPr>
        <p:txBody>
          <a:bodyPr wrap="square" anchor="t" lIns="0" rIns="0" tIns="0" bIns="0">
            <a:spAutoFit/>
          </a:bodyPr>
          <a:lstStyle/>
          <a:p>
            <a:pPr algn="l">
              <a:spcAft>
                <a:spcPts val="1000"/>
              </a:spcAft>
            </a:pPr>
            <a:r>
              <a:rPr sz="1150" b="0" spc="180">
                <a:solidFill>
                  <a:srgbClr val="5B53E0"/>
                </a:solidFill>
                <a:latin typeface="JetBrains Mono"/>
              </a:rPr>
              <a:t>CAPABILITIES</a:t>
            </a:r>
          </a:p>
          <a:p>
            <a:pPr algn="l">
              <a:lnSpc>
                <a:spcPct val="105000"/>
              </a:lnSpc>
              <a:spcAft>
                <a:spcPts val="600"/>
              </a:spcAft>
            </a:pPr>
            <a:r>
              <a:rPr sz="3000" b="0">
                <a:solidFill>
                  <a:srgbClr val="14131A"/>
                </a:solidFill>
                <a:latin typeface="Playfair Display"/>
              </a:rPr>
              <a:t>Everything from tactical execution to strategic UX.</a:t>
            </a:r>
          </a:p>
        </p:txBody>
      </p:sp>
      <p:sp>
        <p:nvSpPr>
          <p:cNvPr id="5" name="Rounded Rectangle 4"/>
          <p:cNvSpPr/>
          <p:nvPr/>
        </p:nvSpPr>
        <p:spPr>
          <a:xfrm>
            <a:off x="841248" y="2788920"/>
            <a:ext cx="3383280" cy="3200400"/>
          </a:xfrm>
          <a:prstGeom prst="roundRect">
            <a:avLst>
              <a:gd name="adj" fmla="val 6000"/>
            </a:avLst>
          </a:prstGeom>
          <a:solidFill>
            <a:srgbClr val="FFFFFF"/>
          </a:solidFill>
          <a:ln w="12700">
            <a:solidFill>
              <a:srgbClr val="E3E1E4"/>
            </a:solidFill>
          </a:ln>
          <a:effectLst/>
        </p:spPr>
        <p:style>
          <a:lnRef idx="1">
            <a:schemeClr val="accent1"/>
          </a:lnRef>
          <a:fillRef idx="3">
            <a:schemeClr val="accent1"/>
          </a:fillRef>
          <a:effectRef idx="2">
            <a:schemeClr val="accent1"/>
          </a:effectRef>
          <a:fontRef idx="minor">
            <a:schemeClr val="lt1"/>
          </a:fontRef>
        </p:style>
        <p:txBody>
          <a:bodyPr rtlCol="0" anchor="ctr" wrap="square" lIns="256032" rIns="256032" tIns="237744" bIns="237744"/>
          <a:lstStyle/>
          <a:p>
            <a:pPr algn="l">
              <a:spcAft>
                <a:spcPts val="1200"/>
              </a:spcAft>
            </a:pPr>
            <a:r>
              <a:rPr sz="1250" b="0" spc="80">
                <a:solidFill>
                  <a:srgbClr val="5B53E0"/>
                </a:solidFill>
                <a:latin typeface="JetBrains Mono"/>
              </a:rPr>
              <a:t>TACTICAL UI/UX</a:t>
            </a:r>
          </a:p>
          <a:p>
            <a:pPr algn="l">
              <a:lnSpc>
                <a:spcPct val="105000"/>
              </a:lnSpc>
              <a:spcAft>
                <a:spcPts val="500"/>
              </a:spcAft>
            </a:pPr>
            <a:r>
              <a:rPr sz="1400" b="0">
                <a:solidFill>
                  <a:srgbClr val="5B53E0"/>
                </a:solidFill>
                <a:latin typeface="Inter"/>
              </a:rPr>
              <a:t>•  </a:t>
            </a:r>
            <a:r>
              <a:rPr sz="1400" b="0">
                <a:solidFill>
                  <a:srgbClr val="6C6A76"/>
                </a:solidFill>
                <a:latin typeface="Inter"/>
              </a:rPr>
              <a:t>High Fidelity Prototyping</a:t>
            </a:r>
          </a:p>
          <a:p>
            <a:pPr algn="l">
              <a:lnSpc>
                <a:spcPct val="105000"/>
              </a:lnSpc>
              <a:spcAft>
                <a:spcPts val="500"/>
              </a:spcAft>
            </a:pPr>
            <a:r>
              <a:rPr sz="1400" b="0">
                <a:solidFill>
                  <a:srgbClr val="5B53E0"/>
                </a:solidFill>
                <a:latin typeface="Inter"/>
              </a:rPr>
              <a:t>•  </a:t>
            </a:r>
            <a:r>
              <a:rPr sz="1400" b="0">
                <a:solidFill>
                  <a:srgbClr val="6C6A76"/>
                </a:solidFill>
                <a:latin typeface="Inter"/>
              </a:rPr>
              <a:t>Wireframing / Greyboxing</a:t>
            </a:r>
          </a:p>
          <a:p>
            <a:pPr algn="l">
              <a:lnSpc>
                <a:spcPct val="105000"/>
              </a:lnSpc>
              <a:spcAft>
                <a:spcPts val="500"/>
              </a:spcAft>
            </a:pPr>
            <a:r>
              <a:rPr sz="1400" b="0">
                <a:solidFill>
                  <a:srgbClr val="5B53E0"/>
                </a:solidFill>
                <a:latin typeface="Inter"/>
              </a:rPr>
              <a:t>•  </a:t>
            </a:r>
            <a:r>
              <a:rPr sz="1400" b="0">
                <a:solidFill>
                  <a:srgbClr val="6C6A76"/>
                </a:solidFill>
                <a:latin typeface="Inter"/>
              </a:rPr>
              <a:t>UX Design</a:t>
            </a:r>
          </a:p>
          <a:p>
            <a:pPr algn="l">
              <a:lnSpc>
                <a:spcPct val="105000"/>
              </a:lnSpc>
              <a:spcAft>
                <a:spcPts val="500"/>
              </a:spcAft>
            </a:pPr>
            <a:r>
              <a:rPr sz="1400" b="0">
                <a:solidFill>
                  <a:srgbClr val="5B53E0"/>
                </a:solidFill>
                <a:latin typeface="Inter"/>
              </a:rPr>
              <a:t>•  </a:t>
            </a:r>
            <a:r>
              <a:rPr sz="1400" b="0">
                <a:solidFill>
                  <a:srgbClr val="6C6A76"/>
                </a:solidFill>
                <a:latin typeface="Inter"/>
              </a:rPr>
              <a:t>UI Design</a:t>
            </a:r>
          </a:p>
          <a:p>
            <a:pPr algn="l">
              <a:lnSpc>
                <a:spcPct val="105000"/>
              </a:lnSpc>
              <a:spcAft>
                <a:spcPts val="500"/>
              </a:spcAft>
            </a:pPr>
            <a:r>
              <a:rPr sz="1400" b="0">
                <a:solidFill>
                  <a:srgbClr val="5B53E0"/>
                </a:solidFill>
                <a:latin typeface="Inter"/>
              </a:rPr>
              <a:t>•  </a:t>
            </a:r>
            <a:r>
              <a:rPr sz="1400" b="0">
                <a:solidFill>
                  <a:srgbClr val="6C6A76"/>
                </a:solidFill>
                <a:latin typeface="Inter"/>
              </a:rPr>
              <a:t>UI Animation</a:t>
            </a:r>
          </a:p>
          <a:p>
            <a:pPr algn="l">
              <a:lnSpc>
                <a:spcPct val="105000"/>
              </a:lnSpc>
              <a:spcAft>
                <a:spcPts val="500"/>
              </a:spcAft>
            </a:pPr>
            <a:r>
              <a:rPr sz="1400" b="0">
                <a:solidFill>
                  <a:srgbClr val="5B53E0"/>
                </a:solidFill>
                <a:latin typeface="Inter"/>
              </a:rPr>
              <a:t>•  </a:t>
            </a:r>
            <a:r>
              <a:rPr sz="1400" b="0">
                <a:solidFill>
                  <a:srgbClr val="6C6A76"/>
                </a:solidFill>
                <a:latin typeface="Inter"/>
              </a:rPr>
              <a:t>UI Implementation</a:t>
            </a:r>
          </a:p>
        </p:txBody>
      </p:sp>
      <p:sp>
        <p:nvSpPr>
          <p:cNvPr id="6" name="Rounded Rectangle 5"/>
          <p:cNvSpPr/>
          <p:nvPr/>
        </p:nvSpPr>
        <p:spPr>
          <a:xfrm>
            <a:off x="4608576" y="2788920"/>
            <a:ext cx="3383280" cy="3200400"/>
          </a:xfrm>
          <a:prstGeom prst="roundRect">
            <a:avLst>
              <a:gd name="adj" fmla="val 6000"/>
            </a:avLst>
          </a:prstGeom>
          <a:solidFill>
            <a:srgbClr val="FFFFFF"/>
          </a:solidFill>
          <a:ln w="12700">
            <a:solidFill>
              <a:srgbClr val="E3E1E4"/>
            </a:solidFill>
          </a:ln>
          <a:effectLst/>
        </p:spPr>
        <p:style>
          <a:lnRef idx="1">
            <a:schemeClr val="accent1"/>
          </a:lnRef>
          <a:fillRef idx="3">
            <a:schemeClr val="accent1"/>
          </a:fillRef>
          <a:effectRef idx="2">
            <a:schemeClr val="accent1"/>
          </a:effectRef>
          <a:fontRef idx="minor">
            <a:schemeClr val="lt1"/>
          </a:fontRef>
        </p:style>
        <p:txBody>
          <a:bodyPr rtlCol="0" anchor="ctr" wrap="square" lIns="256032" rIns="256032" tIns="237744" bIns="237744"/>
          <a:lstStyle/>
          <a:p>
            <a:pPr algn="l">
              <a:spcAft>
                <a:spcPts val="1200"/>
              </a:spcAft>
            </a:pPr>
            <a:r>
              <a:rPr sz="1250" b="0" spc="80">
                <a:solidFill>
                  <a:srgbClr val="5B53E0"/>
                </a:solidFill>
                <a:latin typeface="JetBrains Mono"/>
              </a:rPr>
              <a:t>STRATEGIC UX</a:t>
            </a:r>
          </a:p>
          <a:p>
            <a:pPr algn="l">
              <a:lnSpc>
                <a:spcPct val="105000"/>
              </a:lnSpc>
              <a:spcAft>
                <a:spcPts val="500"/>
              </a:spcAft>
            </a:pPr>
            <a:r>
              <a:rPr sz="1400" b="0">
                <a:solidFill>
                  <a:srgbClr val="5B53E0"/>
                </a:solidFill>
                <a:latin typeface="Inter"/>
              </a:rPr>
              <a:t>•  </a:t>
            </a:r>
            <a:r>
              <a:rPr sz="1400" b="0">
                <a:solidFill>
                  <a:srgbClr val="6C6A76"/>
                </a:solidFill>
                <a:latin typeface="Inter"/>
              </a:rPr>
              <a:t>Vision Clarification</a:t>
            </a:r>
          </a:p>
          <a:p>
            <a:pPr algn="l">
              <a:lnSpc>
                <a:spcPct val="105000"/>
              </a:lnSpc>
              <a:spcAft>
                <a:spcPts val="500"/>
              </a:spcAft>
            </a:pPr>
            <a:r>
              <a:rPr sz="1400" b="0">
                <a:solidFill>
                  <a:srgbClr val="5B53E0"/>
                </a:solidFill>
                <a:latin typeface="Inter"/>
              </a:rPr>
              <a:t>•  </a:t>
            </a:r>
            <a:r>
              <a:rPr sz="1400" b="0">
                <a:solidFill>
                  <a:srgbClr val="6C6A76"/>
                </a:solidFill>
                <a:latin typeface="Inter"/>
              </a:rPr>
              <a:t>Vision Deck Design</a:t>
            </a:r>
          </a:p>
          <a:p>
            <a:pPr algn="l">
              <a:lnSpc>
                <a:spcPct val="105000"/>
              </a:lnSpc>
              <a:spcAft>
                <a:spcPts val="500"/>
              </a:spcAft>
            </a:pPr>
            <a:r>
              <a:rPr sz="1400" b="0">
                <a:solidFill>
                  <a:srgbClr val="5B53E0"/>
                </a:solidFill>
                <a:latin typeface="Inter"/>
              </a:rPr>
              <a:t>•  </a:t>
            </a:r>
            <a:r>
              <a:rPr sz="1400" b="0">
                <a:solidFill>
                  <a:srgbClr val="6C6A76"/>
                </a:solidFill>
                <a:latin typeface="Inter"/>
              </a:rPr>
              <a:t>Game Brand Design</a:t>
            </a:r>
          </a:p>
          <a:p>
            <a:pPr algn="l">
              <a:lnSpc>
                <a:spcPct val="105000"/>
              </a:lnSpc>
              <a:spcAft>
                <a:spcPts val="500"/>
              </a:spcAft>
            </a:pPr>
            <a:r>
              <a:rPr sz="1400" b="0">
                <a:solidFill>
                  <a:srgbClr val="5B53E0"/>
                </a:solidFill>
                <a:latin typeface="Inter"/>
              </a:rPr>
              <a:t>•  </a:t>
            </a:r>
            <a:r>
              <a:rPr sz="1400" b="0">
                <a:solidFill>
                  <a:srgbClr val="6C6A76"/>
                </a:solidFill>
                <a:latin typeface="Inter"/>
              </a:rPr>
              <a:t>Product / Market Fit</a:t>
            </a:r>
          </a:p>
          <a:p>
            <a:pPr algn="l">
              <a:lnSpc>
                <a:spcPct val="105000"/>
              </a:lnSpc>
              <a:spcAft>
                <a:spcPts val="500"/>
              </a:spcAft>
            </a:pPr>
            <a:r>
              <a:rPr sz="1400" b="0">
                <a:solidFill>
                  <a:srgbClr val="5B53E0"/>
                </a:solidFill>
                <a:latin typeface="Inter"/>
              </a:rPr>
              <a:t>•  </a:t>
            </a:r>
            <a:r>
              <a:rPr sz="1400" b="0">
                <a:solidFill>
                  <a:srgbClr val="6C6A76"/>
                </a:solidFill>
                <a:latin typeface="Inter"/>
              </a:rPr>
              <a:t>Persona Development</a:t>
            </a:r>
          </a:p>
          <a:p>
            <a:pPr algn="l">
              <a:lnSpc>
                <a:spcPct val="105000"/>
              </a:lnSpc>
              <a:spcAft>
                <a:spcPts val="500"/>
              </a:spcAft>
            </a:pPr>
            <a:r>
              <a:rPr sz="1400" b="0">
                <a:solidFill>
                  <a:srgbClr val="5B53E0"/>
                </a:solidFill>
                <a:latin typeface="Inter"/>
              </a:rPr>
              <a:t>•  </a:t>
            </a:r>
            <a:r>
              <a:rPr sz="1400" b="0">
                <a:solidFill>
                  <a:srgbClr val="6C6A76"/>
                </a:solidFill>
                <a:latin typeface="Inter"/>
              </a:rPr>
              <a:t>Design Systems</a:t>
            </a:r>
          </a:p>
        </p:txBody>
      </p:sp>
      <p:sp>
        <p:nvSpPr>
          <p:cNvPr id="7" name="Rounded Rectangle 6"/>
          <p:cNvSpPr/>
          <p:nvPr/>
        </p:nvSpPr>
        <p:spPr>
          <a:xfrm>
            <a:off x="8375904" y="2788920"/>
            <a:ext cx="3383280" cy="3200400"/>
          </a:xfrm>
          <a:prstGeom prst="roundRect">
            <a:avLst>
              <a:gd name="adj" fmla="val 6000"/>
            </a:avLst>
          </a:prstGeom>
          <a:solidFill>
            <a:srgbClr val="FFFFFF"/>
          </a:solidFill>
          <a:ln w="12700">
            <a:solidFill>
              <a:srgbClr val="E3E1E4"/>
            </a:solidFill>
          </a:ln>
          <a:effectLst/>
        </p:spPr>
        <p:style>
          <a:lnRef idx="1">
            <a:schemeClr val="accent1"/>
          </a:lnRef>
          <a:fillRef idx="3">
            <a:schemeClr val="accent1"/>
          </a:fillRef>
          <a:effectRef idx="2">
            <a:schemeClr val="accent1"/>
          </a:effectRef>
          <a:fontRef idx="minor">
            <a:schemeClr val="lt1"/>
          </a:fontRef>
        </p:style>
        <p:txBody>
          <a:bodyPr rtlCol="0" anchor="ctr" wrap="square" lIns="256032" rIns="256032" tIns="237744" bIns="237744"/>
          <a:lstStyle/>
          <a:p>
            <a:pPr algn="l">
              <a:spcAft>
                <a:spcPts val="1200"/>
              </a:spcAft>
            </a:pPr>
            <a:r>
              <a:rPr sz="1250" b="0" spc="80">
                <a:solidFill>
                  <a:srgbClr val="5B53E0"/>
                </a:solidFill>
                <a:latin typeface="JetBrains Mono"/>
              </a:rPr>
              <a:t>UX FOR TEAMS</a:t>
            </a:r>
          </a:p>
          <a:p>
            <a:pPr algn="l">
              <a:lnSpc>
                <a:spcPct val="105000"/>
              </a:lnSpc>
              <a:spcAft>
                <a:spcPts val="500"/>
              </a:spcAft>
            </a:pPr>
            <a:r>
              <a:rPr sz="1400" b="0">
                <a:solidFill>
                  <a:srgbClr val="5B53E0"/>
                </a:solidFill>
                <a:latin typeface="Inter"/>
              </a:rPr>
              <a:t>•  </a:t>
            </a:r>
            <a:r>
              <a:rPr sz="1400" b="0">
                <a:solidFill>
                  <a:srgbClr val="6C6A76"/>
                </a:solidFill>
                <a:latin typeface="Inter"/>
              </a:rPr>
              <a:t>LEAN UCD Training</a:t>
            </a:r>
          </a:p>
          <a:p>
            <a:pPr algn="l">
              <a:lnSpc>
                <a:spcPct val="105000"/>
              </a:lnSpc>
              <a:spcAft>
                <a:spcPts val="500"/>
              </a:spcAft>
            </a:pPr>
            <a:r>
              <a:rPr sz="1400" b="0">
                <a:solidFill>
                  <a:srgbClr val="5B53E0"/>
                </a:solidFill>
                <a:latin typeface="Inter"/>
              </a:rPr>
              <a:t>•  </a:t>
            </a:r>
            <a:r>
              <a:rPr sz="1400" b="0">
                <a:solidFill>
                  <a:srgbClr val="6C6A76"/>
                </a:solidFill>
                <a:latin typeface="Inter"/>
              </a:rPr>
              <a:t>Maturing UX Practices</a:t>
            </a:r>
          </a:p>
          <a:p>
            <a:pPr algn="l">
              <a:lnSpc>
                <a:spcPct val="105000"/>
              </a:lnSpc>
              <a:spcAft>
                <a:spcPts val="500"/>
              </a:spcAft>
            </a:pPr>
            <a:r>
              <a:rPr sz="1400" b="0">
                <a:solidFill>
                  <a:srgbClr val="5B53E0"/>
                </a:solidFill>
                <a:latin typeface="Inter"/>
              </a:rPr>
              <a:t>•  </a:t>
            </a:r>
            <a:r>
              <a:rPr sz="1400" b="0">
                <a:solidFill>
                  <a:srgbClr val="6C6A76"/>
                </a:solidFill>
                <a:latin typeface="Inter"/>
              </a:rPr>
              <a:t>Psychological Safety</a:t>
            </a:r>
          </a:p>
          <a:p>
            <a:pPr algn="l">
              <a:lnSpc>
                <a:spcPct val="105000"/>
              </a:lnSpc>
              <a:spcAft>
                <a:spcPts val="500"/>
              </a:spcAft>
            </a:pPr>
            <a:r>
              <a:rPr sz="1400" b="0">
                <a:solidFill>
                  <a:srgbClr val="5B53E0"/>
                </a:solidFill>
                <a:latin typeface="Inter"/>
              </a:rPr>
              <a:t>•  </a:t>
            </a:r>
            <a:r>
              <a:rPr sz="1400" b="0">
                <a:solidFill>
                  <a:srgbClr val="6C6A76"/>
                </a:solidFill>
                <a:latin typeface="Inter"/>
              </a:rPr>
              <a:t>Collaboration Workshops</a:t>
            </a:r>
          </a:p>
          <a:p>
            <a:pPr algn="l">
              <a:lnSpc>
                <a:spcPct val="105000"/>
              </a:lnSpc>
              <a:spcAft>
                <a:spcPts val="500"/>
              </a:spcAft>
            </a:pPr>
            <a:r>
              <a:rPr sz="1400" b="0">
                <a:solidFill>
                  <a:srgbClr val="5B53E0"/>
                </a:solidFill>
                <a:latin typeface="Inter"/>
              </a:rPr>
              <a:t>•  </a:t>
            </a:r>
            <a:r>
              <a:rPr sz="1400" b="0">
                <a:solidFill>
                  <a:srgbClr val="6C6A76"/>
                </a:solidFill>
                <a:latin typeface="Inter"/>
              </a:rPr>
              <a:t>Process Design</a:t>
            </a:r>
          </a:p>
          <a:p>
            <a:pPr algn="l">
              <a:lnSpc>
                <a:spcPct val="105000"/>
              </a:lnSpc>
              <a:spcAft>
                <a:spcPts val="500"/>
              </a:spcAft>
            </a:pPr>
            <a:r>
              <a:rPr sz="1400" b="0">
                <a:solidFill>
                  <a:srgbClr val="5B53E0"/>
                </a:solidFill>
                <a:latin typeface="Inter"/>
              </a:rPr>
              <a:t>•  </a:t>
            </a:r>
            <a:r>
              <a:rPr sz="1400" b="0">
                <a:solidFill>
                  <a:srgbClr val="6C6A76"/>
                </a:solidFill>
                <a:latin typeface="Inter"/>
              </a:rPr>
              <a:t>Service Design</a:t>
            </a:r>
          </a:p>
        </p:txBody>
      </p:sp>
      <p:sp>
        <p:nvSpPr>
          <p:cNvPr id="8" name="TextBox 7"/>
          <p:cNvSpPr txBox="1"/>
          <p:nvPr/>
        </p:nvSpPr>
        <p:spPr>
          <a:xfrm>
            <a:off x="10253167" y="6199632"/>
            <a:ext cx="1097280" cy="320040"/>
          </a:xfrm>
          <a:prstGeom prst="rect">
            <a:avLst/>
          </a:prstGeom>
          <a:noFill/>
        </p:spPr>
        <p:txBody>
          <a:bodyPr wrap="square" anchor="t" lIns="0" rIns="0" tIns="0" bIns="0">
            <a:spAutoFit/>
          </a:bodyPr>
          <a:lstStyle/>
          <a:p>
            <a:pPr algn="r">
              <a:spcAft>
                <a:spcPts val="0"/>
              </a:spcAft>
            </a:pPr>
            <a:r>
              <a:rPr sz="1000" b="0">
                <a:solidFill>
                  <a:srgbClr val="9B99A4"/>
                </a:solidFill>
                <a:latin typeface="JetBrains Mono"/>
              </a:rPr>
              <a:t>02</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6F5F2"/>
        </a:solidFill>
        <a:effectLst/>
      </p:bgPr>
    </p:bg>
    <p:spTree>
      <p:nvGrpSpPr>
        <p:cNvPr id="1" name=""/>
        <p:cNvGrpSpPr/>
        <p:nvPr/>
      </p:nvGrpSpPr>
      <p:grpSpPr/>
      <p:sp>
        <p:nvSpPr>
          <p:cNvPr id="2" name="TextBox 1"/>
          <p:cNvSpPr txBox="1"/>
          <p:nvPr/>
        </p:nvSpPr>
        <p:spPr>
          <a:xfrm>
            <a:off x="841248" y="457200"/>
            <a:ext cx="6305519" cy="365760"/>
          </a:xfrm>
          <a:prstGeom prst="rect">
            <a:avLst/>
          </a:prstGeom>
          <a:noFill/>
        </p:spPr>
        <p:txBody>
          <a:bodyPr wrap="square" anchor="t" lIns="0" rIns="0" tIns="0" bIns="0">
            <a:spAutoFit/>
          </a:bodyPr>
          <a:lstStyle/>
          <a:p>
            <a:pPr algn="l">
              <a:spcAft>
                <a:spcPts val="0"/>
              </a:spcAft>
            </a:pPr>
            <a:r>
              <a:rPr sz="1300" b="1">
                <a:solidFill>
                  <a:srgbClr val="14131A"/>
                </a:solidFill>
                <a:latin typeface="Playfair Display"/>
              </a:rPr>
              <a:t>Digital</a:t>
            </a:r>
            <a:r>
              <a:rPr sz="1300" b="0">
                <a:solidFill>
                  <a:srgbClr val="6C6A76"/>
                </a:solidFill>
                <a:latin typeface="Playfair Display"/>
              </a:rPr>
              <a:t> Experiments</a:t>
            </a:r>
          </a:p>
        </p:txBody>
      </p:sp>
      <p:sp>
        <p:nvSpPr>
          <p:cNvPr id="3" name="TextBox 2"/>
          <p:cNvSpPr txBox="1"/>
          <p:nvPr/>
        </p:nvSpPr>
        <p:spPr>
          <a:xfrm>
            <a:off x="7146767" y="457200"/>
            <a:ext cx="4203679" cy="365760"/>
          </a:xfrm>
          <a:prstGeom prst="rect">
            <a:avLst/>
          </a:prstGeom>
          <a:noFill/>
        </p:spPr>
        <p:txBody>
          <a:bodyPr wrap="square" anchor="t" lIns="0" rIns="0" tIns="0" bIns="0">
            <a:spAutoFit/>
          </a:bodyPr>
          <a:lstStyle/>
          <a:p>
            <a:pPr algn="r">
              <a:spcAft>
                <a:spcPts val="0"/>
              </a:spcAft>
            </a:pPr>
            <a:r>
              <a:rPr sz="1050" b="0" spc="120">
                <a:solidFill>
                  <a:srgbClr val="6C6A76"/>
                </a:solidFill>
                <a:latin typeface="JetBrains Mono"/>
              </a:rPr>
              <a:t>Clients &amp; games</a:t>
            </a:r>
          </a:p>
        </p:txBody>
      </p:sp>
      <p:sp>
        <p:nvSpPr>
          <p:cNvPr id="4" name="TextBox 3"/>
          <p:cNvSpPr txBox="1"/>
          <p:nvPr/>
        </p:nvSpPr>
        <p:spPr>
          <a:xfrm>
            <a:off x="841248" y="1371600"/>
            <a:ext cx="10509199" cy="1463040"/>
          </a:xfrm>
          <a:prstGeom prst="rect">
            <a:avLst/>
          </a:prstGeom>
          <a:noFill/>
        </p:spPr>
        <p:txBody>
          <a:bodyPr wrap="square" anchor="t" lIns="0" rIns="0" tIns="0" bIns="0">
            <a:spAutoFit/>
          </a:bodyPr>
          <a:lstStyle/>
          <a:p>
            <a:pPr algn="l">
              <a:spcAft>
                <a:spcPts val="1000"/>
              </a:spcAft>
            </a:pPr>
            <a:r>
              <a:rPr sz="1150" b="0" spc="180">
                <a:solidFill>
                  <a:srgbClr val="5B53E0"/>
                </a:solidFill>
                <a:latin typeface="JetBrains Mono"/>
              </a:rPr>
              <a:t>CLIENTS &amp; GAMES</a:t>
            </a:r>
          </a:p>
          <a:p>
            <a:pPr algn="l">
              <a:lnSpc>
                <a:spcPct val="105000"/>
              </a:lnSpc>
              <a:spcAft>
                <a:spcPts val="600"/>
              </a:spcAft>
            </a:pPr>
            <a:r>
              <a:rPr sz="3000" b="0">
                <a:solidFill>
                  <a:srgbClr val="14131A"/>
                </a:solidFill>
                <a:latin typeface="Playfair Display"/>
              </a:rPr>
              <a:t>Trusted on shipped and unreleased titles across the industry.</a:t>
            </a:r>
          </a:p>
        </p:txBody>
      </p:sp>
      <p:sp>
        <p:nvSpPr>
          <p:cNvPr id="5" name="Rounded Rectangle 4"/>
          <p:cNvSpPr/>
          <p:nvPr/>
        </p:nvSpPr>
        <p:spPr>
          <a:xfrm>
            <a:off x="841248" y="2926080"/>
            <a:ext cx="2505456" cy="1371600"/>
          </a:xfrm>
          <a:prstGeom prst="roundRect">
            <a:avLst>
              <a:gd name="adj" fmla="val 6000"/>
            </a:avLst>
          </a:prstGeom>
          <a:solidFill>
            <a:srgbClr val="FFFFFF"/>
          </a:solidFill>
          <a:ln w="12700">
            <a:solidFill>
              <a:srgbClr val="E3E1E4"/>
            </a:solidFill>
          </a:ln>
          <a:effectLst/>
        </p:spPr>
        <p:style>
          <a:lnRef idx="1">
            <a:schemeClr val="accent1"/>
          </a:lnRef>
          <a:fillRef idx="3">
            <a:schemeClr val="accent1"/>
          </a:fillRef>
          <a:effectRef idx="2">
            <a:schemeClr val="accent1"/>
          </a:effectRef>
          <a:fontRef idx="minor">
            <a:schemeClr val="lt1"/>
          </a:fontRef>
        </p:style>
        <p:txBody>
          <a:bodyPr rtlCol="0" anchor="ctr" wrap="square" lIns="256032" rIns="256032" tIns="237744" bIns="237744"/>
          <a:lstStyle/>
          <a:p>
            <a:pPr algn="ctr">
              <a:spcAft>
                <a:spcPts val="0"/>
              </a:spcAft>
            </a:pPr>
            <a:r>
              <a:rPr sz="1600" b="0">
                <a:solidFill>
                  <a:srgbClr val="1D1D1D"/>
                </a:solidFill>
                <a:latin typeface="Playfair Display"/>
              </a:rPr>
              <a:t>Activision Blizzard</a:t>
            </a:r>
          </a:p>
        </p:txBody>
      </p:sp>
      <p:sp>
        <p:nvSpPr>
          <p:cNvPr id="6" name="Rounded Rectangle 5"/>
          <p:cNvSpPr/>
          <p:nvPr/>
        </p:nvSpPr>
        <p:spPr>
          <a:xfrm>
            <a:off x="3657600" y="2926080"/>
            <a:ext cx="2505456" cy="1371600"/>
          </a:xfrm>
          <a:prstGeom prst="roundRect">
            <a:avLst>
              <a:gd name="adj" fmla="val 6000"/>
            </a:avLst>
          </a:prstGeom>
          <a:solidFill>
            <a:srgbClr val="FFFFFF"/>
          </a:solidFill>
          <a:ln w="12700">
            <a:solidFill>
              <a:srgbClr val="E3E1E4"/>
            </a:solidFill>
          </a:ln>
          <a:effectLst/>
        </p:spPr>
        <p:style>
          <a:lnRef idx="1">
            <a:schemeClr val="accent1"/>
          </a:lnRef>
          <a:fillRef idx="3">
            <a:schemeClr val="accent1"/>
          </a:fillRef>
          <a:effectRef idx="2">
            <a:schemeClr val="accent1"/>
          </a:effectRef>
          <a:fontRef idx="minor">
            <a:schemeClr val="lt1"/>
          </a:fontRef>
        </p:style>
        <p:txBody>
          <a:bodyPr rtlCol="0" anchor="ctr" wrap="square" lIns="256032" rIns="256032" tIns="237744" bIns="237744"/>
          <a:lstStyle/>
          <a:p>
            <a:pPr algn="ctr">
              <a:spcAft>
                <a:spcPts val="0"/>
              </a:spcAft>
            </a:pPr>
            <a:r>
              <a:rPr sz="1600" b="0">
                <a:solidFill>
                  <a:srgbClr val="1D1D1D"/>
                </a:solidFill>
                <a:latin typeface="Playfair Display"/>
              </a:rPr>
              <a:t>SciPlay</a:t>
            </a:r>
          </a:p>
        </p:txBody>
      </p:sp>
      <p:sp>
        <p:nvSpPr>
          <p:cNvPr id="7" name="Rounded Rectangle 6"/>
          <p:cNvSpPr/>
          <p:nvPr/>
        </p:nvSpPr>
        <p:spPr>
          <a:xfrm>
            <a:off x="6473952" y="2926080"/>
            <a:ext cx="2505456" cy="1371600"/>
          </a:xfrm>
          <a:prstGeom prst="roundRect">
            <a:avLst>
              <a:gd name="adj" fmla="val 6000"/>
            </a:avLst>
          </a:prstGeom>
          <a:solidFill>
            <a:srgbClr val="FFFFFF"/>
          </a:solidFill>
          <a:ln w="12700">
            <a:solidFill>
              <a:srgbClr val="E3E1E4"/>
            </a:solidFill>
          </a:ln>
          <a:effectLst/>
        </p:spPr>
        <p:style>
          <a:lnRef idx="1">
            <a:schemeClr val="accent1"/>
          </a:lnRef>
          <a:fillRef idx="3">
            <a:schemeClr val="accent1"/>
          </a:fillRef>
          <a:effectRef idx="2">
            <a:schemeClr val="accent1"/>
          </a:effectRef>
          <a:fontRef idx="minor">
            <a:schemeClr val="lt1"/>
          </a:fontRef>
        </p:style>
        <p:txBody>
          <a:bodyPr rtlCol="0" anchor="ctr" wrap="square" lIns="256032" rIns="256032" tIns="237744" bIns="237744"/>
          <a:lstStyle/>
          <a:p>
            <a:pPr algn="ctr">
              <a:spcAft>
                <a:spcPts val="0"/>
              </a:spcAft>
            </a:pPr>
            <a:r>
              <a:rPr sz="1600" b="0">
                <a:solidFill>
                  <a:srgbClr val="1D1D1D"/>
                </a:solidFill>
                <a:latin typeface="Playfair Display"/>
              </a:rPr>
              <a:t>Mythical Games</a:t>
            </a:r>
          </a:p>
        </p:txBody>
      </p:sp>
      <p:sp>
        <p:nvSpPr>
          <p:cNvPr id="8" name="Rounded Rectangle 7"/>
          <p:cNvSpPr/>
          <p:nvPr/>
        </p:nvSpPr>
        <p:spPr>
          <a:xfrm>
            <a:off x="9290304" y="2926080"/>
            <a:ext cx="2505456" cy="1371600"/>
          </a:xfrm>
          <a:prstGeom prst="roundRect">
            <a:avLst>
              <a:gd name="adj" fmla="val 6000"/>
            </a:avLst>
          </a:prstGeom>
          <a:solidFill>
            <a:srgbClr val="FFFFFF"/>
          </a:solidFill>
          <a:ln w="12700">
            <a:solidFill>
              <a:srgbClr val="E3E1E4"/>
            </a:solidFill>
          </a:ln>
          <a:effectLst/>
        </p:spPr>
        <p:style>
          <a:lnRef idx="1">
            <a:schemeClr val="accent1"/>
          </a:lnRef>
          <a:fillRef idx="3">
            <a:schemeClr val="accent1"/>
          </a:fillRef>
          <a:effectRef idx="2">
            <a:schemeClr val="accent1"/>
          </a:effectRef>
          <a:fontRef idx="minor">
            <a:schemeClr val="lt1"/>
          </a:fontRef>
        </p:style>
        <p:txBody>
          <a:bodyPr rtlCol="0" anchor="ctr" wrap="square" lIns="256032" rIns="256032" tIns="237744" bIns="237744"/>
          <a:lstStyle/>
          <a:p>
            <a:pPr algn="ctr">
              <a:spcAft>
                <a:spcPts val="0"/>
              </a:spcAft>
            </a:pPr>
            <a:r>
              <a:rPr sz="1600" b="0">
                <a:solidFill>
                  <a:srgbClr val="1D1D1D"/>
                </a:solidFill>
                <a:latin typeface="Playfair Display"/>
              </a:rPr>
              <a:t>38 Studios</a:t>
            </a:r>
          </a:p>
        </p:txBody>
      </p:sp>
      <p:sp>
        <p:nvSpPr>
          <p:cNvPr id="9" name="TextBox 8"/>
          <p:cNvSpPr txBox="1"/>
          <p:nvPr/>
        </p:nvSpPr>
        <p:spPr>
          <a:xfrm>
            <a:off x="841248" y="4617720"/>
            <a:ext cx="10509199" cy="1097280"/>
          </a:xfrm>
          <a:prstGeom prst="rect">
            <a:avLst/>
          </a:prstGeom>
          <a:noFill/>
        </p:spPr>
        <p:txBody>
          <a:bodyPr wrap="square" anchor="t" lIns="0" rIns="0" tIns="0" bIns="0">
            <a:spAutoFit/>
          </a:bodyPr>
          <a:lstStyle/>
          <a:p>
            <a:pPr algn="l">
              <a:lnSpc>
                <a:spcPct val="130000"/>
              </a:lnSpc>
              <a:spcAft>
                <a:spcPts val="600"/>
              </a:spcAft>
            </a:pPr>
            <a:r>
              <a:rPr sz="1300" b="0">
                <a:solidFill>
                  <a:srgbClr val="6C6A76"/>
                </a:solidFill>
                <a:latin typeface="Inter"/>
              </a:rPr>
              <a:t>Engagements span AAA, social casino, and MMO — including work on titles such as Jackpot Party (SciPlay) and Blankos Block Party (Mythical Games). NDA-ready and experienced with unreleased IP.</a:t>
            </a:r>
          </a:p>
        </p:txBody>
      </p:sp>
      <p:sp>
        <p:nvSpPr>
          <p:cNvPr id="10" name="TextBox 9"/>
          <p:cNvSpPr txBox="1"/>
          <p:nvPr/>
        </p:nvSpPr>
        <p:spPr>
          <a:xfrm>
            <a:off x="10253167" y="6199632"/>
            <a:ext cx="1097280" cy="320040"/>
          </a:xfrm>
          <a:prstGeom prst="rect">
            <a:avLst/>
          </a:prstGeom>
          <a:noFill/>
        </p:spPr>
        <p:txBody>
          <a:bodyPr wrap="square" anchor="t" lIns="0" rIns="0" tIns="0" bIns="0">
            <a:spAutoFit/>
          </a:bodyPr>
          <a:lstStyle/>
          <a:p>
            <a:pPr algn="r">
              <a:spcAft>
                <a:spcPts val="0"/>
              </a:spcAft>
            </a:pPr>
            <a:r>
              <a:rPr sz="1000" b="0">
                <a:solidFill>
                  <a:srgbClr val="9B99A4"/>
                </a:solidFill>
                <a:latin typeface="JetBrains Mono"/>
              </a:rPr>
              <a:t>03</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14131A"/>
        </a:solidFill>
        <a:effectLst/>
      </p:bgPr>
    </p:bg>
    <p:spTree>
      <p:nvGrpSpPr>
        <p:cNvPr id="1" name=""/>
        <p:cNvGrpSpPr/>
        <p:nvPr/>
      </p:nvGrpSpPr>
      <p:grpSpPr/>
      <p:sp>
        <p:nvSpPr>
          <p:cNvPr id="2" name="TextBox 1"/>
          <p:cNvSpPr txBox="1"/>
          <p:nvPr/>
        </p:nvSpPr>
        <p:spPr>
          <a:xfrm>
            <a:off x="841248" y="457200"/>
            <a:ext cx="6305519" cy="365760"/>
          </a:xfrm>
          <a:prstGeom prst="rect">
            <a:avLst/>
          </a:prstGeom>
          <a:noFill/>
        </p:spPr>
        <p:txBody>
          <a:bodyPr wrap="square" anchor="t" lIns="0" rIns="0" tIns="0" bIns="0">
            <a:spAutoFit/>
          </a:bodyPr>
          <a:lstStyle/>
          <a:p>
            <a:pPr algn="l">
              <a:spcAft>
                <a:spcPts val="0"/>
              </a:spcAft>
            </a:pPr>
            <a:r>
              <a:rPr sz="1300" b="1">
                <a:solidFill>
                  <a:srgbClr val="F5F4F7"/>
                </a:solidFill>
                <a:latin typeface="Playfair Display"/>
              </a:rPr>
              <a:t>Digital</a:t>
            </a:r>
            <a:r>
              <a:rPr sz="1300" b="0">
                <a:solidFill>
                  <a:srgbClr val="B5B2C2"/>
                </a:solidFill>
                <a:latin typeface="Playfair Display"/>
              </a:rPr>
              <a:t> Experiments</a:t>
            </a:r>
          </a:p>
        </p:txBody>
      </p:sp>
      <p:sp>
        <p:nvSpPr>
          <p:cNvPr id="3" name="TextBox 2"/>
          <p:cNvSpPr txBox="1"/>
          <p:nvPr/>
        </p:nvSpPr>
        <p:spPr>
          <a:xfrm>
            <a:off x="7146767" y="457200"/>
            <a:ext cx="4203679" cy="365760"/>
          </a:xfrm>
          <a:prstGeom prst="rect">
            <a:avLst/>
          </a:prstGeom>
          <a:noFill/>
        </p:spPr>
        <p:txBody>
          <a:bodyPr wrap="square" anchor="t" lIns="0" rIns="0" tIns="0" bIns="0">
            <a:spAutoFit/>
          </a:bodyPr>
          <a:lstStyle/>
          <a:p>
            <a:pPr algn="r">
              <a:spcAft>
                <a:spcPts val="0"/>
              </a:spcAft>
            </a:pPr>
            <a:r>
              <a:rPr sz="1050" b="0" spc="120">
                <a:solidFill>
                  <a:srgbClr val="B5B2C2"/>
                </a:solidFill>
                <a:latin typeface="JetBrains Mono"/>
              </a:rPr>
              <a:t>Our team</a:t>
            </a:r>
          </a:p>
        </p:txBody>
      </p:sp>
      <p:sp>
        <p:nvSpPr>
          <p:cNvPr id="4" name="TextBox 3"/>
          <p:cNvSpPr txBox="1"/>
          <p:nvPr/>
        </p:nvSpPr>
        <p:spPr>
          <a:xfrm>
            <a:off x="841248" y="1234440"/>
            <a:ext cx="10509199" cy="2011680"/>
          </a:xfrm>
          <a:prstGeom prst="rect">
            <a:avLst/>
          </a:prstGeom>
          <a:noFill/>
        </p:spPr>
        <p:txBody>
          <a:bodyPr wrap="square" anchor="t" lIns="0" rIns="0" tIns="0" bIns="0">
            <a:spAutoFit/>
          </a:bodyPr>
          <a:lstStyle/>
          <a:p>
            <a:pPr algn="l">
              <a:spcAft>
                <a:spcPts val="1000"/>
              </a:spcAft>
            </a:pPr>
            <a:r>
              <a:rPr sz="1150" b="0" spc="180">
                <a:solidFill>
                  <a:srgbClr val="B9B5F4"/>
                </a:solidFill>
                <a:latin typeface="JetBrains Mono"/>
              </a:rPr>
              <a:t>OUR TEAM</a:t>
            </a:r>
          </a:p>
          <a:p>
            <a:pPr algn="l">
              <a:lnSpc>
                <a:spcPct val="125000"/>
              </a:lnSpc>
              <a:spcAft>
                <a:spcPts val="600"/>
              </a:spcAft>
            </a:pPr>
            <a:r>
              <a:rPr sz="2000" b="0">
                <a:solidFill>
                  <a:srgbClr val="F5F4F7"/>
                </a:solidFill>
                <a:latin typeface="Playfair Display"/>
              </a:rPr>
              <a:t>Digital Experiments is a third party developer that provides bespoke user experience design for video game studios. Staffed by a veteran team with over 20 years of UX experience in games, DXP offers everything from tactical UX/UI execution as well as more senior level strategic UX work.</a:t>
            </a:r>
          </a:p>
        </p:txBody>
      </p:sp>
      <p:sp>
        <p:nvSpPr>
          <p:cNvPr id="5" name="Rounded Rectangle 4"/>
          <p:cNvSpPr/>
          <p:nvPr/>
        </p:nvSpPr>
        <p:spPr>
          <a:xfrm>
            <a:off x="841248" y="3886200"/>
            <a:ext cx="3383280" cy="868680"/>
          </a:xfrm>
          <a:prstGeom prst="roundRect">
            <a:avLst>
              <a:gd name="adj" fmla="val 6000"/>
            </a:avLst>
          </a:prstGeom>
          <a:solidFill>
            <a:srgbClr val="201F29"/>
          </a:solidFill>
          <a:ln w="12700">
            <a:solidFill>
              <a:srgbClr val="322F3D"/>
            </a:solidFill>
          </a:ln>
          <a:effectLst/>
        </p:spPr>
        <p:style>
          <a:lnRef idx="1">
            <a:schemeClr val="accent1"/>
          </a:lnRef>
          <a:fillRef idx="3">
            <a:schemeClr val="accent1"/>
          </a:fillRef>
          <a:effectRef idx="2">
            <a:schemeClr val="accent1"/>
          </a:effectRef>
          <a:fontRef idx="minor">
            <a:schemeClr val="lt1"/>
          </a:fontRef>
        </p:style>
        <p:txBody>
          <a:bodyPr rtlCol="0" anchor="ctr" wrap="square" lIns="256032" rIns="256032" tIns="237744" bIns="237744"/>
          <a:lstStyle/>
          <a:p>
            <a:pPr algn="l">
              <a:spcAft>
                <a:spcPts val="300"/>
              </a:spcAft>
            </a:pPr>
            <a:r>
              <a:rPr sz="1600" b="1">
                <a:solidFill>
                  <a:srgbClr val="F5F4F7"/>
                </a:solidFill>
                <a:latin typeface="Playfair Display"/>
              </a:rPr>
              <a:t>Irena Pereira</a:t>
            </a:r>
          </a:p>
          <a:p>
            <a:pPr algn="l">
              <a:spcAft>
                <a:spcPts val="600"/>
              </a:spcAft>
            </a:pPr>
            <a:r>
              <a:rPr sz="950" b="0" spc="60">
                <a:solidFill>
                  <a:srgbClr val="B5B2C2"/>
                </a:solidFill>
                <a:latin typeface="JetBrains Mono"/>
              </a:rPr>
              <a:t>DIRECTOR · LEAD DESIGNER / ENGINEER</a:t>
            </a:r>
          </a:p>
        </p:txBody>
      </p:sp>
      <p:sp>
        <p:nvSpPr>
          <p:cNvPr id="6" name="Rounded Rectangle 5"/>
          <p:cNvSpPr/>
          <p:nvPr/>
        </p:nvSpPr>
        <p:spPr>
          <a:xfrm>
            <a:off x="4608576" y="3886200"/>
            <a:ext cx="3383280" cy="868680"/>
          </a:xfrm>
          <a:prstGeom prst="roundRect">
            <a:avLst>
              <a:gd name="adj" fmla="val 6000"/>
            </a:avLst>
          </a:prstGeom>
          <a:solidFill>
            <a:srgbClr val="201F29"/>
          </a:solidFill>
          <a:ln w="12700">
            <a:solidFill>
              <a:srgbClr val="322F3D"/>
            </a:solidFill>
          </a:ln>
          <a:effectLst/>
        </p:spPr>
        <p:style>
          <a:lnRef idx="1">
            <a:schemeClr val="accent1"/>
          </a:lnRef>
          <a:fillRef idx="3">
            <a:schemeClr val="accent1"/>
          </a:fillRef>
          <a:effectRef idx="2">
            <a:schemeClr val="accent1"/>
          </a:effectRef>
          <a:fontRef idx="minor">
            <a:schemeClr val="lt1"/>
          </a:fontRef>
        </p:style>
        <p:txBody>
          <a:bodyPr rtlCol="0" anchor="ctr" wrap="square" lIns="256032" rIns="256032" tIns="237744" bIns="237744"/>
          <a:lstStyle/>
          <a:p>
            <a:pPr algn="l">
              <a:spcAft>
                <a:spcPts val="300"/>
              </a:spcAft>
            </a:pPr>
            <a:r>
              <a:rPr sz="1600" b="1">
                <a:solidFill>
                  <a:srgbClr val="F5F4F7"/>
                </a:solidFill>
                <a:latin typeface="Playfair Display"/>
              </a:rPr>
              <a:t>SJ Dalmar</a:t>
            </a:r>
          </a:p>
          <a:p>
            <a:pPr algn="l">
              <a:spcAft>
                <a:spcPts val="600"/>
              </a:spcAft>
            </a:pPr>
            <a:r>
              <a:rPr sz="950" b="0" spc="60">
                <a:solidFill>
                  <a:srgbClr val="B5B2C2"/>
                </a:solidFill>
                <a:latin typeface="JetBrains Mono"/>
              </a:rPr>
              <a:t>UI/UX DESIGNER · ANIMATOR</a:t>
            </a:r>
          </a:p>
        </p:txBody>
      </p:sp>
      <p:sp>
        <p:nvSpPr>
          <p:cNvPr id="7" name="Rounded Rectangle 6"/>
          <p:cNvSpPr/>
          <p:nvPr/>
        </p:nvSpPr>
        <p:spPr>
          <a:xfrm>
            <a:off x="8375904" y="3886200"/>
            <a:ext cx="3383280" cy="868680"/>
          </a:xfrm>
          <a:prstGeom prst="roundRect">
            <a:avLst>
              <a:gd name="adj" fmla="val 6000"/>
            </a:avLst>
          </a:prstGeom>
          <a:solidFill>
            <a:srgbClr val="201F29"/>
          </a:solidFill>
          <a:ln w="12700">
            <a:solidFill>
              <a:srgbClr val="322F3D"/>
            </a:solidFill>
          </a:ln>
          <a:effectLst/>
        </p:spPr>
        <p:style>
          <a:lnRef idx="1">
            <a:schemeClr val="accent1"/>
          </a:lnRef>
          <a:fillRef idx="3">
            <a:schemeClr val="accent1"/>
          </a:fillRef>
          <a:effectRef idx="2">
            <a:schemeClr val="accent1"/>
          </a:effectRef>
          <a:fontRef idx="minor">
            <a:schemeClr val="lt1"/>
          </a:fontRef>
        </p:style>
        <p:txBody>
          <a:bodyPr rtlCol="0" anchor="ctr" wrap="square" lIns="256032" rIns="256032" tIns="237744" bIns="237744"/>
          <a:lstStyle/>
          <a:p>
            <a:pPr algn="l">
              <a:spcAft>
                <a:spcPts val="300"/>
              </a:spcAft>
            </a:pPr>
            <a:r>
              <a:rPr sz="1600" b="1">
                <a:solidFill>
                  <a:srgbClr val="F5F4F7"/>
                </a:solidFill>
                <a:latin typeface="Playfair Display"/>
              </a:rPr>
              <a:t>Alyssa Yeo</a:t>
            </a:r>
          </a:p>
          <a:p>
            <a:pPr algn="l">
              <a:spcAft>
                <a:spcPts val="600"/>
              </a:spcAft>
            </a:pPr>
            <a:r>
              <a:rPr sz="950" b="0" spc="60">
                <a:solidFill>
                  <a:srgbClr val="B5B2C2"/>
                </a:solidFill>
                <a:latin typeface="JetBrains Mono"/>
              </a:rPr>
              <a:t>UI/UX DESIGNER</a:t>
            </a:r>
          </a:p>
        </p:txBody>
      </p:sp>
      <p:sp>
        <p:nvSpPr>
          <p:cNvPr id="8" name="Rounded Rectangle 7"/>
          <p:cNvSpPr/>
          <p:nvPr/>
        </p:nvSpPr>
        <p:spPr>
          <a:xfrm>
            <a:off x="841248" y="5010912"/>
            <a:ext cx="3383280" cy="868680"/>
          </a:xfrm>
          <a:prstGeom prst="roundRect">
            <a:avLst>
              <a:gd name="adj" fmla="val 6000"/>
            </a:avLst>
          </a:prstGeom>
          <a:solidFill>
            <a:srgbClr val="201F29"/>
          </a:solidFill>
          <a:ln w="12700">
            <a:solidFill>
              <a:srgbClr val="322F3D"/>
            </a:solidFill>
          </a:ln>
          <a:effectLst/>
        </p:spPr>
        <p:style>
          <a:lnRef idx="1">
            <a:schemeClr val="accent1"/>
          </a:lnRef>
          <a:fillRef idx="3">
            <a:schemeClr val="accent1"/>
          </a:fillRef>
          <a:effectRef idx="2">
            <a:schemeClr val="accent1"/>
          </a:effectRef>
          <a:fontRef idx="minor">
            <a:schemeClr val="lt1"/>
          </a:fontRef>
        </p:style>
        <p:txBody>
          <a:bodyPr rtlCol="0" anchor="ctr" wrap="square" lIns="256032" rIns="256032" tIns="237744" bIns="237744"/>
          <a:lstStyle/>
          <a:p>
            <a:pPr algn="l">
              <a:spcAft>
                <a:spcPts val="300"/>
              </a:spcAft>
            </a:pPr>
            <a:r>
              <a:rPr sz="1600" b="1">
                <a:solidFill>
                  <a:srgbClr val="F5F4F7"/>
                </a:solidFill>
                <a:latin typeface="Playfair Display"/>
              </a:rPr>
              <a:t>Kelsey Phelan</a:t>
            </a:r>
          </a:p>
          <a:p>
            <a:pPr algn="l">
              <a:spcAft>
                <a:spcPts val="600"/>
              </a:spcAft>
            </a:pPr>
            <a:r>
              <a:rPr sz="950" b="0" spc="60">
                <a:solidFill>
                  <a:srgbClr val="B5B2C2"/>
                </a:solidFill>
                <a:latin typeface="JetBrains Mono"/>
              </a:rPr>
              <a:t>UI/UX DESIGNER · RESEARCH</a:t>
            </a:r>
          </a:p>
        </p:txBody>
      </p:sp>
      <p:sp>
        <p:nvSpPr>
          <p:cNvPr id="9" name="Rounded Rectangle 8"/>
          <p:cNvSpPr/>
          <p:nvPr/>
        </p:nvSpPr>
        <p:spPr>
          <a:xfrm>
            <a:off x="4608576" y="5010912"/>
            <a:ext cx="3383280" cy="868680"/>
          </a:xfrm>
          <a:prstGeom prst="roundRect">
            <a:avLst>
              <a:gd name="adj" fmla="val 6000"/>
            </a:avLst>
          </a:prstGeom>
          <a:solidFill>
            <a:srgbClr val="201F29"/>
          </a:solidFill>
          <a:ln w="12700">
            <a:solidFill>
              <a:srgbClr val="322F3D"/>
            </a:solidFill>
          </a:ln>
          <a:effectLst/>
        </p:spPr>
        <p:style>
          <a:lnRef idx="1">
            <a:schemeClr val="accent1"/>
          </a:lnRef>
          <a:fillRef idx="3">
            <a:schemeClr val="accent1"/>
          </a:fillRef>
          <a:effectRef idx="2">
            <a:schemeClr val="accent1"/>
          </a:effectRef>
          <a:fontRef idx="minor">
            <a:schemeClr val="lt1"/>
          </a:fontRef>
        </p:style>
        <p:txBody>
          <a:bodyPr rtlCol="0" anchor="ctr" wrap="square" lIns="256032" rIns="256032" tIns="237744" bIns="237744"/>
          <a:lstStyle/>
          <a:p>
            <a:pPr algn="l">
              <a:spcAft>
                <a:spcPts val="300"/>
              </a:spcAft>
            </a:pPr>
            <a:r>
              <a:rPr sz="1600" b="1">
                <a:solidFill>
                  <a:srgbClr val="F5F4F7"/>
                </a:solidFill>
                <a:latin typeface="Playfair Display"/>
              </a:rPr>
              <a:t>Hannah Kinzinger</a:t>
            </a:r>
          </a:p>
          <a:p>
            <a:pPr algn="l">
              <a:spcAft>
                <a:spcPts val="600"/>
              </a:spcAft>
            </a:pPr>
            <a:r>
              <a:rPr sz="950" b="0" spc="60">
                <a:solidFill>
                  <a:srgbClr val="B5B2C2"/>
                </a:solidFill>
                <a:latin typeface="JetBrains Mono"/>
              </a:rPr>
              <a:t>ENGINEER · GAMEPLAY</a:t>
            </a:r>
          </a:p>
        </p:txBody>
      </p:sp>
      <p:sp>
        <p:nvSpPr>
          <p:cNvPr id="10" name="Rounded Rectangle 9"/>
          <p:cNvSpPr/>
          <p:nvPr/>
        </p:nvSpPr>
        <p:spPr>
          <a:xfrm>
            <a:off x="8375904" y="5010912"/>
            <a:ext cx="3383280" cy="868680"/>
          </a:xfrm>
          <a:prstGeom prst="roundRect">
            <a:avLst>
              <a:gd name="adj" fmla="val 6000"/>
            </a:avLst>
          </a:prstGeom>
          <a:solidFill>
            <a:srgbClr val="201F29"/>
          </a:solidFill>
          <a:ln w="12700">
            <a:solidFill>
              <a:srgbClr val="322F3D"/>
            </a:solidFill>
          </a:ln>
          <a:effectLst/>
        </p:spPr>
        <p:style>
          <a:lnRef idx="1">
            <a:schemeClr val="accent1"/>
          </a:lnRef>
          <a:fillRef idx="3">
            <a:schemeClr val="accent1"/>
          </a:fillRef>
          <a:effectRef idx="2">
            <a:schemeClr val="accent1"/>
          </a:effectRef>
          <a:fontRef idx="minor">
            <a:schemeClr val="lt1"/>
          </a:fontRef>
        </p:style>
        <p:txBody>
          <a:bodyPr rtlCol="0" anchor="ctr" wrap="square" lIns="256032" rIns="256032" tIns="237744" bIns="237744"/>
          <a:lstStyle/>
          <a:p>
            <a:pPr algn="l">
              <a:spcAft>
                <a:spcPts val="300"/>
              </a:spcAft>
            </a:pPr>
            <a:r>
              <a:rPr sz="1600" b="1">
                <a:solidFill>
                  <a:srgbClr val="F5F4F7"/>
                </a:solidFill>
                <a:latin typeface="Playfair Display"/>
              </a:rPr>
              <a:t>Leslie Crystal</a:t>
            </a:r>
          </a:p>
          <a:p>
            <a:pPr algn="l">
              <a:spcAft>
                <a:spcPts val="600"/>
              </a:spcAft>
            </a:pPr>
            <a:r>
              <a:rPr sz="950" b="0" spc="60">
                <a:solidFill>
                  <a:srgbClr val="B5B2C2"/>
                </a:solidFill>
                <a:latin typeface="JetBrains Mono"/>
              </a:rPr>
              <a:t>ASSOCIATE PRODUCER · OPERATIONS</a:t>
            </a:r>
          </a:p>
        </p:txBody>
      </p:sp>
      <p:sp>
        <p:nvSpPr>
          <p:cNvPr id="11" name="TextBox 10"/>
          <p:cNvSpPr txBox="1"/>
          <p:nvPr/>
        </p:nvSpPr>
        <p:spPr>
          <a:xfrm>
            <a:off x="10253167" y="6199632"/>
            <a:ext cx="1097280" cy="320040"/>
          </a:xfrm>
          <a:prstGeom prst="rect">
            <a:avLst/>
          </a:prstGeom>
          <a:noFill/>
        </p:spPr>
        <p:txBody>
          <a:bodyPr wrap="square" anchor="t" lIns="0" rIns="0" tIns="0" bIns="0">
            <a:spAutoFit/>
          </a:bodyPr>
          <a:lstStyle/>
          <a:p>
            <a:pPr algn="r">
              <a:spcAft>
                <a:spcPts val="0"/>
              </a:spcAft>
            </a:pPr>
            <a:r>
              <a:rPr sz="1000" b="0">
                <a:solidFill>
                  <a:srgbClr val="B5B2C2"/>
                </a:solidFill>
                <a:latin typeface="JetBrains Mono"/>
              </a:rPr>
              <a:t>04</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841248" y="457200"/>
            <a:ext cx="6305519" cy="365760"/>
          </a:xfrm>
          <a:prstGeom prst="rect">
            <a:avLst/>
          </a:prstGeom>
          <a:noFill/>
        </p:spPr>
        <p:txBody>
          <a:bodyPr wrap="square" anchor="t" lIns="0" rIns="0" tIns="0" bIns="0">
            <a:spAutoFit/>
          </a:bodyPr>
          <a:lstStyle/>
          <a:p>
            <a:pPr algn="l">
              <a:spcAft>
                <a:spcPts val="0"/>
              </a:spcAft>
            </a:pPr>
            <a:r>
              <a:rPr sz="1300" b="1">
                <a:solidFill>
                  <a:srgbClr val="14131A"/>
                </a:solidFill>
                <a:latin typeface="Playfair Display"/>
              </a:rPr>
              <a:t>Digital</a:t>
            </a:r>
            <a:r>
              <a:rPr sz="1300" b="0">
                <a:solidFill>
                  <a:srgbClr val="6C6A76"/>
                </a:solidFill>
                <a:latin typeface="Playfair Display"/>
              </a:rPr>
              <a:t> Experiments</a:t>
            </a:r>
          </a:p>
        </p:txBody>
      </p:sp>
      <p:sp>
        <p:nvSpPr>
          <p:cNvPr id="3" name="TextBox 2"/>
          <p:cNvSpPr txBox="1"/>
          <p:nvPr/>
        </p:nvSpPr>
        <p:spPr>
          <a:xfrm>
            <a:off x="7146767" y="457200"/>
            <a:ext cx="4203679" cy="365760"/>
          </a:xfrm>
          <a:prstGeom prst="rect">
            <a:avLst/>
          </a:prstGeom>
          <a:noFill/>
        </p:spPr>
        <p:txBody>
          <a:bodyPr wrap="square" anchor="t" lIns="0" rIns="0" tIns="0" bIns="0">
            <a:spAutoFit/>
          </a:bodyPr>
          <a:lstStyle/>
          <a:p>
            <a:pPr algn="r">
              <a:spcAft>
                <a:spcPts val="0"/>
              </a:spcAft>
            </a:pPr>
            <a:r>
              <a:rPr sz="1050" b="0" spc="120">
                <a:solidFill>
                  <a:srgbClr val="6C6A76"/>
                </a:solidFill>
                <a:latin typeface="JetBrains Mono"/>
              </a:rPr>
              <a:t>Design team · tools</a:t>
            </a:r>
          </a:p>
        </p:txBody>
      </p:sp>
      <p:sp>
        <p:nvSpPr>
          <p:cNvPr id="4" name="TextBox 3"/>
          <p:cNvSpPr txBox="1"/>
          <p:nvPr/>
        </p:nvSpPr>
        <p:spPr>
          <a:xfrm>
            <a:off x="841248" y="2011680"/>
            <a:ext cx="10509199" cy="1828800"/>
          </a:xfrm>
          <a:prstGeom prst="rect">
            <a:avLst/>
          </a:prstGeom>
          <a:noFill/>
        </p:spPr>
        <p:txBody>
          <a:bodyPr wrap="square" anchor="t" lIns="0" rIns="0" tIns="0" bIns="0">
            <a:spAutoFit/>
          </a:bodyPr>
          <a:lstStyle/>
          <a:p>
            <a:pPr algn="l">
              <a:spcAft>
                <a:spcPts val="1000"/>
              </a:spcAft>
            </a:pPr>
            <a:r>
              <a:rPr sz="1150" b="0" spc="180">
                <a:solidFill>
                  <a:srgbClr val="5B53E0"/>
                </a:solidFill>
                <a:latin typeface="JetBrains Mono"/>
              </a:rPr>
              <a:t>DESIGN TEAM · TOOLS</a:t>
            </a:r>
          </a:p>
          <a:p>
            <a:pPr algn="l">
              <a:lnSpc>
                <a:spcPct val="108000"/>
              </a:lnSpc>
              <a:spcAft>
                <a:spcPts val="1800"/>
              </a:spcAft>
            </a:pPr>
            <a:r>
              <a:rPr sz="3000" b="0">
                <a:solidFill>
                  <a:srgbClr val="14131A"/>
                </a:solidFill>
                <a:latin typeface="Playfair Display"/>
              </a:rPr>
              <a:t>A senior, cross-discipline team — designers, engineers &amp; producers.</a:t>
            </a:r>
          </a:p>
        </p:txBody>
      </p:sp>
      <p:sp>
        <p:nvSpPr>
          <p:cNvPr id="5" name="TextBox 4"/>
          <p:cNvSpPr txBox="1"/>
          <p:nvPr/>
        </p:nvSpPr>
        <p:spPr>
          <a:xfrm>
            <a:off x="841248" y="3749039"/>
            <a:ext cx="10509199" cy="914400"/>
          </a:xfrm>
          <a:prstGeom prst="rect">
            <a:avLst/>
          </a:prstGeom>
          <a:noFill/>
        </p:spPr>
        <p:txBody>
          <a:bodyPr wrap="square" anchor="t" lIns="0" rIns="0" tIns="0" bIns="0">
            <a:spAutoFit/>
          </a:bodyPr>
          <a:lstStyle/>
          <a:p>
            <a:pPr algn="l">
              <a:lnSpc>
                <a:spcPct val="160000"/>
              </a:lnSpc>
              <a:spcAft>
                <a:spcPts val="600"/>
              </a:spcAft>
            </a:pPr>
            <a:r>
              <a:rPr sz="1600" b="0">
                <a:solidFill>
                  <a:srgbClr val="1D1D1D"/>
                </a:solidFill>
                <a:latin typeface="Inter"/>
              </a:rPr>
              <a:t>Figma   Adobe Creative Suite   Unity   C# &amp; multiple languages   Visual Studio   Google &amp; Office Suite</a:t>
            </a:r>
          </a:p>
        </p:txBody>
      </p:sp>
      <p:sp>
        <p:nvSpPr>
          <p:cNvPr id="6" name="TextBox 5"/>
          <p:cNvSpPr txBox="1"/>
          <p:nvPr/>
        </p:nvSpPr>
        <p:spPr>
          <a:xfrm>
            <a:off x="10253167" y="6199632"/>
            <a:ext cx="1097280" cy="320040"/>
          </a:xfrm>
          <a:prstGeom prst="rect">
            <a:avLst/>
          </a:prstGeom>
          <a:noFill/>
        </p:spPr>
        <p:txBody>
          <a:bodyPr wrap="square" anchor="t" lIns="0" rIns="0" tIns="0" bIns="0">
            <a:spAutoFit/>
          </a:bodyPr>
          <a:lstStyle/>
          <a:p>
            <a:pPr algn="r">
              <a:spcAft>
                <a:spcPts val="0"/>
              </a:spcAft>
            </a:pPr>
            <a:r>
              <a:rPr sz="1000" b="0">
                <a:solidFill>
                  <a:srgbClr val="9B99A4"/>
                </a:solidFill>
                <a:latin typeface="JetBrains Mono"/>
              </a:rPr>
              <a:t>05</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841248" y="457200"/>
            <a:ext cx="6305519" cy="365760"/>
          </a:xfrm>
          <a:prstGeom prst="rect">
            <a:avLst/>
          </a:prstGeom>
          <a:noFill/>
        </p:spPr>
        <p:txBody>
          <a:bodyPr wrap="square" anchor="t" lIns="0" rIns="0" tIns="0" bIns="0">
            <a:spAutoFit/>
          </a:bodyPr>
          <a:lstStyle/>
          <a:p>
            <a:pPr algn="l">
              <a:spcAft>
                <a:spcPts val="0"/>
              </a:spcAft>
            </a:pPr>
            <a:r>
              <a:rPr sz="1300" b="1">
                <a:solidFill>
                  <a:srgbClr val="14131A"/>
                </a:solidFill>
                <a:latin typeface="Playfair Display"/>
              </a:rPr>
              <a:t>Digital</a:t>
            </a:r>
            <a:r>
              <a:rPr sz="1300" b="0">
                <a:solidFill>
                  <a:srgbClr val="6C6A76"/>
                </a:solidFill>
                <a:latin typeface="Playfair Display"/>
              </a:rPr>
              <a:t> Experiments</a:t>
            </a:r>
          </a:p>
        </p:txBody>
      </p:sp>
      <p:sp>
        <p:nvSpPr>
          <p:cNvPr id="3" name="TextBox 2"/>
          <p:cNvSpPr txBox="1"/>
          <p:nvPr/>
        </p:nvSpPr>
        <p:spPr>
          <a:xfrm>
            <a:off x="7146767" y="457200"/>
            <a:ext cx="4203679" cy="365760"/>
          </a:xfrm>
          <a:prstGeom prst="rect">
            <a:avLst/>
          </a:prstGeom>
          <a:noFill/>
        </p:spPr>
        <p:txBody>
          <a:bodyPr wrap="square" anchor="t" lIns="0" rIns="0" tIns="0" bIns="0">
            <a:spAutoFit/>
          </a:bodyPr>
          <a:lstStyle/>
          <a:p>
            <a:pPr algn="r">
              <a:spcAft>
                <a:spcPts val="0"/>
              </a:spcAft>
            </a:pPr>
            <a:r>
              <a:rPr sz="1050" b="0" spc="120">
                <a:solidFill>
                  <a:srgbClr val="6C6A76"/>
                </a:solidFill>
                <a:latin typeface="JetBrains Mono"/>
              </a:rPr>
              <a:t>Team · 1 / 6</a:t>
            </a:r>
          </a:p>
        </p:txBody>
      </p:sp>
      <p:sp>
        <p:nvSpPr>
          <p:cNvPr id="4" name="TextBox 3"/>
          <p:cNvSpPr txBox="1"/>
          <p:nvPr/>
        </p:nvSpPr>
        <p:spPr>
          <a:xfrm>
            <a:off x="841248" y="1143000"/>
            <a:ext cx="10509199" cy="1188720"/>
          </a:xfrm>
          <a:prstGeom prst="rect">
            <a:avLst/>
          </a:prstGeom>
          <a:noFill/>
        </p:spPr>
        <p:txBody>
          <a:bodyPr wrap="square" anchor="t" lIns="0" rIns="0" tIns="0" bIns="0">
            <a:spAutoFit/>
          </a:bodyPr>
          <a:lstStyle/>
          <a:p>
            <a:pPr algn="l">
              <a:spcAft>
                <a:spcPts val="400"/>
              </a:spcAft>
            </a:pPr>
            <a:r>
              <a:rPr sz="3400" b="0">
                <a:solidFill>
                  <a:srgbClr val="14131A"/>
                </a:solidFill>
                <a:latin typeface="Playfair Display"/>
              </a:rPr>
              <a:t>Irena Pereira</a:t>
            </a:r>
          </a:p>
          <a:p>
            <a:pPr algn="l">
              <a:spcAft>
                <a:spcPts val="600"/>
              </a:spcAft>
            </a:pPr>
            <a:r>
              <a:rPr sz="1200" b="0" spc="80">
                <a:solidFill>
                  <a:srgbClr val="5B53E0"/>
                </a:solidFill>
                <a:latin typeface="JetBrains Mono"/>
              </a:rPr>
              <a:t>DIRECTOR · PRODUCT / DESIGN / ENGINEERING · PRODUCT LEADER</a:t>
            </a:r>
          </a:p>
        </p:txBody>
      </p:sp>
      <p:sp>
        <p:nvSpPr>
          <p:cNvPr id="5" name="TextBox 4"/>
          <p:cNvSpPr txBox="1"/>
          <p:nvPr/>
        </p:nvSpPr>
        <p:spPr>
          <a:xfrm>
            <a:off x="841248" y="2423160"/>
            <a:ext cx="10509199" cy="1920240"/>
          </a:xfrm>
          <a:prstGeom prst="rect">
            <a:avLst/>
          </a:prstGeom>
          <a:noFill/>
        </p:spPr>
        <p:txBody>
          <a:bodyPr wrap="square" anchor="t" lIns="0" rIns="0" tIns="0" bIns="0">
            <a:spAutoFit/>
          </a:bodyPr>
          <a:lstStyle/>
          <a:p>
            <a:pPr algn="l">
              <a:lnSpc>
                <a:spcPct val="150000"/>
              </a:lnSpc>
              <a:spcAft>
                <a:spcPts val="600"/>
              </a:spcAft>
            </a:pPr>
            <a:r>
              <a:rPr sz="1500" b="0">
                <a:solidFill>
                  <a:srgbClr val="1D1D1D"/>
                </a:solidFill>
                <a:latin typeface="Inter"/>
              </a:rPr>
              <a:t>From World of Warcraft to REALTOR.com®, Irena has spent an over 20-year career as an engineer, NATSEC product designer, and game designer. Irena has been a trailblazer in UX/UI where her work was instrumental in defining the field in our industry. She pioneered work methodologies we take for granted today, such as A/B testing and data-driven design. She is a speaker, designer, and educator. Today she helps game studios and B2C organizations define and craft groundbreaking user experiences to increase engagement and revenue.</a:t>
            </a:r>
          </a:p>
        </p:txBody>
      </p:sp>
      <p:sp>
        <p:nvSpPr>
          <p:cNvPr id="6" name="TextBox 5"/>
          <p:cNvSpPr txBox="1"/>
          <p:nvPr/>
        </p:nvSpPr>
        <p:spPr>
          <a:xfrm>
            <a:off x="841248" y="4663440"/>
            <a:ext cx="3383280" cy="1828800"/>
          </a:xfrm>
          <a:prstGeom prst="rect">
            <a:avLst/>
          </a:prstGeom>
          <a:noFill/>
        </p:spPr>
        <p:txBody>
          <a:bodyPr wrap="square" anchor="t" lIns="0" rIns="0" tIns="0" bIns="0">
            <a:spAutoFit/>
          </a:bodyPr>
          <a:lstStyle/>
          <a:p>
            <a:pPr algn="l">
              <a:spcAft>
                <a:spcPts val="800"/>
              </a:spcAft>
            </a:pPr>
            <a:r>
              <a:rPr sz="1100" b="0" spc="120">
                <a:solidFill>
                  <a:srgbClr val="5B53E0"/>
                </a:solidFill>
                <a:latin typeface="JetBrains Mono"/>
              </a:rPr>
              <a:t>SKILLS</a:t>
            </a:r>
          </a:p>
          <a:p>
            <a:pPr algn="l">
              <a:lnSpc>
                <a:spcPct val="105000"/>
              </a:lnSpc>
              <a:spcAft>
                <a:spcPts val="400"/>
              </a:spcAft>
            </a:pPr>
            <a:r>
              <a:rPr sz="1200" b="0">
                <a:solidFill>
                  <a:srgbClr val="6C6A76"/>
                </a:solidFill>
                <a:latin typeface="Inter"/>
              </a:rPr>
              <a:t>Game Design</a:t>
            </a:r>
          </a:p>
          <a:p>
            <a:pPr algn="l">
              <a:lnSpc>
                <a:spcPct val="105000"/>
              </a:lnSpc>
              <a:spcAft>
                <a:spcPts val="400"/>
              </a:spcAft>
            </a:pPr>
            <a:r>
              <a:rPr sz="1200" b="0">
                <a:solidFill>
                  <a:srgbClr val="6C6A76"/>
                </a:solidFill>
                <a:latin typeface="Inter"/>
              </a:rPr>
              <a:t>Strategic UX</a:t>
            </a:r>
          </a:p>
          <a:p>
            <a:pPr algn="l">
              <a:lnSpc>
                <a:spcPct val="105000"/>
              </a:lnSpc>
              <a:spcAft>
                <a:spcPts val="400"/>
              </a:spcAft>
            </a:pPr>
            <a:r>
              <a:rPr sz="1200" b="0">
                <a:solidFill>
                  <a:srgbClr val="6C6A76"/>
                </a:solidFill>
                <a:latin typeface="Inter"/>
              </a:rPr>
              <a:t>Team Leadership</a:t>
            </a:r>
          </a:p>
          <a:p>
            <a:pPr algn="l">
              <a:lnSpc>
                <a:spcPct val="105000"/>
              </a:lnSpc>
              <a:spcAft>
                <a:spcPts val="400"/>
              </a:spcAft>
            </a:pPr>
            <a:r>
              <a:rPr sz="1200" b="0">
                <a:solidFill>
                  <a:srgbClr val="6C6A76"/>
                </a:solidFill>
                <a:latin typeface="Inter"/>
              </a:rPr>
              <a:t>Alignment</a:t>
            </a:r>
          </a:p>
          <a:p>
            <a:pPr algn="l">
              <a:lnSpc>
                <a:spcPct val="105000"/>
              </a:lnSpc>
              <a:spcAft>
                <a:spcPts val="400"/>
              </a:spcAft>
            </a:pPr>
            <a:r>
              <a:rPr sz="1200" b="0">
                <a:solidFill>
                  <a:srgbClr val="6C6A76"/>
                </a:solidFill>
                <a:latin typeface="Inter"/>
              </a:rPr>
              <a:t>Prioritization</a:t>
            </a:r>
          </a:p>
        </p:txBody>
      </p:sp>
      <p:sp>
        <p:nvSpPr>
          <p:cNvPr id="7" name="TextBox 6"/>
          <p:cNvSpPr txBox="1"/>
          <p:nvPr/>
        </p:nvSpPr>
        <p:spPr>
          <a:xfrm>
            <a:off x="4608576" y="4663440"/>
            <a:ext cx="3383280" cy="1828800"/>
          </a:xfrm>
          <a:prstGeom prst="rect">
            <a:avLst/>
          </a:prstGeom>
          <a:noFill/>
        </p:spPr>
        <p:txBody>
          <a:bodyPr wrap="square" anchor="t" lIns="0" rIns="0" tIns="0" bIns="0">
            <a:spAutoFit/>
          </a:bodyPr>
          <a:lstStyle/>
          <a:p>
            <a:pPr algn="l">
              <a:spcAft>
                <a:spcPts val="800"/>
              </a:spcAft>
            </a:pPr>
            <a:r>
              <a:rPr sz="1100" b="0" spc="120">
                <a:solidFill>
                  <a:srgbClr val="5B53E0"/>
                </a:solidFill>
                <a:latin typeface="JetBrains Mono"/>
              </a:rPr>
              <a:t>HOBBIES</a:t>
            </a:r>
          </a:p>
          <a:p>
            <a:pPr algn="l">
              <a:lnSpc>
                <a:spcPct val="105000"/>
              </a:lnSpc>
              <a:spcAft>
                <a:spcPts val="400"/>
              </a:spcAft>
            </a:pPr>
            <a:r>
              <a:rPr sz="1200" b="0">
                <a:solidFill>
                  <a:srgbClr val="6C6A76"/>
                </a:solidFill>
                <a:latin typeface="Inter"/>
              </a:rPr>
              <a:t>Photography</a:t>
            </a:r>
          </a:p>
          <a:p>
            <a:pPr algn="l">
              <a:lnSpc>
                <a:spcPct val="105000"/>
              </a:lnSpc>
              <a:spcAft>
                <a:spcPts val="400"/>
              </a:spcAft>
            </a:pPr>
            <a:r>
              <a:rPr sz="1200" b="0">
                <a:solidFill>
                  <a:srgbClr val="6C6A76"/>
                </a:solidFill>
                <a:latin typeface="Inter"/>
              </a:rPr>
              <a:t>Mycology</a:t>
            </a:r>
          </a:p>
          <a:p>
            <a:pPr algn="l">
              <a:lnSpc>
                <a:spcPct val="105000"/>
              </a:lnSpc>
              <a:spcAft>
                <a:spcPts val="400"/>
              </a:spcAft>
            </a:pPr>
            <a:r>
              <a:rPr sz="1200" b="0">
                <a:solidFill>
                  <a:srgbClr val="6C6A76"/>
                </a:solidFill>
                <a:latin typeface="Inter"/>
              </a:rPr>
              <a:t>Hiking</a:t>
            </a:r>
          </a:p>
          <a:p>
            <a:pPr algn="l">
              <a:lnSpc>
                <a:spcPct val="105000"/>
              </a:lnSpc>
              <a:spcAft>
                <a:spcPts val="400"/>
              </a:spcAft>
            </a:pPr>
            <a:r>
              <a:rPr sz="1200" b="0">
                <a:solidFill>
                  <a:srgbClr val="6C6A76"/>
                </a:solidFill>
                <a:latin typeface="Inter"/>
              </a:rPr>
              <a:t>Diplomacy (Board Game)</a:t>
            </a:r>
          </a:p>
        </p:txBody>
      </p:sp>
      <p:sp>
        <p:nvSpPr>
          <p:cNvPr id="8" name="TextBox 7"/>
          <p:cNvSpPr txBox="1"/>
          <p:nvPr/>
        </p:nvSpPr>
        <p:spPr>
          <a:xfrm>
            <a:off x="8375904" y="4663440"/>
            <a:ext cx="3383280" cy="1828800"/>
          </a:xfrm>
          <a:prstGeom prst="rect">
            <a:avLst/>
          </a:prstGeom>
          <a:noFill/>
        </p:spPr>
        <p:txBody>
          <a:bodyPr wrap="square" anchor="t" lIns="0" rIns="0" tIns="0" bIns="0">
            <a:spAutoFit/>
          </a:bodyPr>
          <a:lstStyle/>
          <a:p>
            <a:pPr algn="l">
              <a:spcAft>
                <a:spcPts val="800"/>
              </a:spcAft>
            </a:pPr>
            <a:r>
              <a:rPr sz="1100" b="0" spc="120">
                <a:solidFill>
                  <a:srgbClr val="5B53E0"/>
                </a:solidFill>
                <a:latin typeface="JetBrains Mono"/>
              </a:rPr>
              <a:t>FAVORITE GAMES</a:t>
            </a:r>
          </a:p>
          <a:p>
            <a:pPr algn="l">
              <a:lnSpc>
                <a:spcPct val="105000"/>
              </a:lnSpc>
              <a:spcAft>
                <a:spcPts val="400"/>
              </a:spcAft>
            </a:pPr>
            <a:r>
              <a:rPr sz="1200" b="0">
                <a:solidFill>
                  <a:srgbClr val="6C6A76"/>
                </a:solidFill>
                <a:latin typeface="Inter"/>
              </a:rPr>
              <a:t>Final Fantasy VII</a:t>
            </a:r>
          </a:p>
          <a:p>
            <a:pPr algn="l">
              <a:lnSpc>
                <a:spcPct val="105000"/>
              </a:lnSpc>
              <a:spcAft>
                <a:spcPts val="400"/>
              </a:spcAft>
            </a:pPr>
            <a:r>
              <a:rPr sz="1200" b="0">
                <a:solidFill>
                  <a:srgbClr val="6C6A76"/>
                </a:solidFill>
                <a:latin typeface="Inter"/>
              </a:rPr>
              <a:t>EverQuest</a:t>
            </a:r>
          </a:p>
          <a:p>
            <a:pPr algn="l">
              <a:lnSpc>
                <a:spcPct val="105000"/>
              </a:lnSpc>
              <a:spcAft>
                <a:spcPts val="400"/>
              </a:spcAft>
            </a:pPr>
            <a:r>
              <a:rPr sz="1200" b="0">
                <a:solidFill>
                  <a:srgbClr val="6C6A76"/>
                </a:solidFill>
                <a:latin typeface="Inter"/>
              </a:rPr>
              <a:t>World of Warcraft</a:t>
            </a:r>
          </a:p>
          <a:p>
            <a:pPr algn="l">
              <a:lnSpc>
                <a:spcPct val="105000"/>
              </a:lnSpc>
              <a:spcAft>
                <a:spcPts val="400"/>
              </a:spcAft>
            </a:pPr>
            <a:r>
              <a:rPr sz="1200" b="0">
                <a:solidFill>
                  <a:srgbClr val="6C6A76"/>
                </a:solidFill>
                <a:latin typeface="Inter"/>
              </a:rPr>
              <a:t>Diablo</a:t>
            </a:r>
          </a:p>
          <a:p>
            <a:pPr algn="l">
              <a:lnSpc>
                <a:spcPct val="105000"/>
              </a:lnSpc>
              <a:spcAft>
                <a:spcPts val="400"/>
              </a:spcAft>
            </a:pPr>
            <a:r>
              <a:rPr sz="1200" b="0">
                <a:solidFill>
                  <a:srgbClr val="6C6A76"/>
                </a:solidFill>
                <a:latin typeface="Inter"/>
              </a:rPr>
              <a:t>Civilization II</a:t>
            </a:r>
          </a:p>
        </p:txBody>
      </p:sp>
      <p:sp>
        <p:nvSpPr>
          <p:cNvPr id="9" name="TextBox 8"/>
          <p:cNvSpPr txBox="1"/>
          <p:nvPr/>
        </p:nvSpPr>
        <p:spPr>
          <a:xfrm>
            <a:off x="10253167" y="6199632"/>
            <a:ext cx="1097280" cy="320040"/>
          </a:xfrm>
          <a:prstGeom prst="rect">
            <a:avLst/>
          </a:prstGeom>
          <a:noFill/>
        </p:spPr>
        <p:txBody>
          <a:bodyPr wrap="square" anchor="t" lIns="0" rIns="0" tIns="0" bIns="0">
            <a:spAutoFit/>
          </a:bodyPr>
          <a:lstStyle/>
          <a:p>
            <a:pPr algn="r">
              <a:spcAft>
                <a:spcPts val="0"/>
              </a:spcAft>
            </a:pPr>
            <a:r>
              <a:rPr sz="1000" b="0">
                <a:solidFill>
                  <a:srgbClr val="9B99A4"/>
                </a:solidFill>
                <a:latin typeface="JetBrains Mono"/>
              </a:rPr>
              <a:t>06</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6F5F2"/>
        </a:solidFill>
        <a:effectLst/>
      </p:bgPr>
    </p:bg>
    <p:spTree>
      <p:nvGrpSpPr>
        <p:cNvPr id="1" name=""/>
        <p:cNvGrpSpPr/>
        <p:nvPr/>
      </p:nvGrpSpPr>
      <p:grpSpPr/>
      <p:sp>
        <p:nvSpPr>
          <p:cNvPr id="2" name="TextBox 1"/>
          <p:cNvSpPr txBox="1"/>
          <p:nvPr/>
        </p:nvSpPr>
        <p:spPr>
          <a:xfrm>
            <a:off x="841248" y="457200"/>
            <a:ext cx="6305519" cy="365760"/>
          </a:xfrm>
          <a:prstGeom prst="rect">
            <a:avLst/>
          </a:prstGeom>
          <a:noFill/>
        </p:spPr>
        <p:txBody>
          <a:bodyPr wrap="square" anchor="t" lIns="0" rIns="0" tIns="0" bIns="0">
            <a:spAutoFit/>
          </a:bodyPr>
          <a:lstStyle/>
          <a:p>
            <a:pPr algn="l">
              <a:spcAft>
                <a:spcPts val="0"/>
              </a:spcAft>
            </a:pPr>
            <a:r>
              <a:rPr sz="1300" b="1">
                <a:solidFill>
                  <a:srgbClr val="14131A"/>
                </a:solidFill>
                <a:latin typeface="Playfair Display"/>
              </a:rPr>
              <a:t>Digital</a:t>
            </a:r>
            <a:r>
              <a:rPr sz="1300" b="0">
                <a:solidFill>
                  <a:srgbClr val="6C6A76"/>
                </a:solidFill>
                <a:latin typeface="Playfair Display"/>
              </a:rPr>
              <a:t> Experiments</a:t>
            </a:r>
          </a:p>
        </p:txBody>
      </p:sp>
      <p:sp>
        <p:nvSpPr>
          <p:cNvPr id="3" name="TextBox 2"/>
          <p:cNvSpPr txBox="1"/>
          <p:nvPr/>
        </p:nvSpPr>
        <p:spPr>
          <a:xfrm>
            <a:off x="7146767" y="457200"/>
            <a:ext cx="4203679" cy="365760"/>
          </a:xfrm>
          <a:prstGeom prst="rect">
            <a:avLst/>
          </a:prstGeom>
          <a:noFill/>
        </p:spPr>
        <p:txBody>
          <a:bodyPr wrap="square" anchor="t" lIns="0" rIns="0" tIns="0" bIns="0">
            <a:spAutoFit/>
          </a:bodyPr>
          <a:lstStyle/>
          <a:p>
            <a:pPr algn="r">
              <a:spcAft>
                <a:spcPts val="0"/>
              </a:spcAft>
            </a:pPr>
            <a:r>
              <a:rPr sz="1050" b="0" spc="120">
                <a:solidFill>
                  <a:srgbClr val="6C6A76"/>
                </a:solidFill>
                <a:latin typeface="JetBrains Mono"/>
              </a:rPr>
              <a:t>Team · 2 / 6</a:t>
            </a:r>
          </a:p>
        </p:txBody>
      </p:sp>
      <p:sp>
        <p:nvSpPr>
          <p:cNvPr id="4" name="TextBox 3"/>
          <p:cNvSpPr txBox="1"/>
          <p:nvPr/>
        </p:nvSpPr>
        <p:spPr>
          <a:xfrm>
            <a:off x="841248" y="1143000"/>
            <a:ext cx="10509199" cy="1188720"/>
          </a:xfrm>
          <a:prstGeom prst="rect">
            <a:avLst/>
          </a:prstGeom>
          <a:noFill/>
        </p:spPr>
        <p:txBody>
          <a:bodyPr wrap="square" anchor="t" lIns="0" rIns="0" tIns="0" bIns="0">
            <a:spAutoFit/>
          </a:bodyPr>
          <a:lstStyle/>
          <a:p>
            <a:pPr algn="l">
              <a:spcAft>
                <a:spcPts val="400"/>
              </a:spcAft>
            </a:pPr>
            <a:r>
              <a:rPr sz="3400" b="0">
                <a:solidFill>
                  <a:srgbClr val="14131A"/>
                </a:solidFill>
                <a:latin typeface="Playfair Display"/>
              </a:rPr>
              <a:t>SJ Dalmar</a:t>
            </a:r>
          </a:p>
          <a:p>
            <a:pPr algn="l">
              <a:spcAft>
                <a:spcPts val="600"/>
              </a:spcAft>
            </a:pPr>
            <a:r>
              <a:rPr sz="1200" b="0" spc="80">
                <a:solidFill>
                  <a:srgbClr val="5B53E0"/>
                </a:solidFill>
                <a:latin typeface="JetBrains Mono"/>
              </a:rPr>
              <a:t>UI/UX DESIGNER · ANIMATION / 2D ILLUSTRATION</a:t>
            </a:r>
          </a:p>
        </p:txBody>
      </p:sp>
      <p:sp>
        <p:nvSpPr>
          <p:cNvPr id="5" name="TextBox 4"/>
          <p:cNvSpPr txBox="1"/>
          <p:nvPr/>
        </p:nvSpPr>
        <p:spPr>
          <a:xfrm>
            <a:off x="841248" y="2423160"/>
            <a:ext cx="10509199" cy="1920240"/>
          </a:xfrm>
          <a:prstGeom prst="rect">
            <a:avLst/>
          </a:prstGeom>
          <a:noFill/>
        </p:spPr>
        <p:txBody>
          <a:bodyPr wrap="square" anchor="t" lIns="0" rIns="0" tIns="0" bIns="0">
            <a:spAutoFit/>
          </a:bodyPr>
          <a:lstStyle/>
          <a:p>
            <a:pPr algn="l">
              <a:lnSpc>
                <a:spcPct val="150000"/>
              </a:lnSpc>
              <a:spcAft>
                <a:spcPts val="600"/>
              </a:spcAft>
            </a:pPr>
            <a:r>
              <a:rPr sz="1500" b="0">
                <a:solidFill>
                  <a:srgbClr val="1D1D1D"/>
                </a:solidFill>
                <a:latin typeface="Inter"/>
              </a:rPr>
              <a:t>SJ has been fascinated by art their whole life, especially animation. After graduating from VanArts in 2016, they worked as a character animator at Bardel Entertainment before stepping into UX/UI design. Their animation work combined with an eye for composition honed by 15+ years of illustration gives them a unique design perspective. SJ accomplished creating a task management app focusing on alleviating challenges for folks with ADHD. Today, as a designer with Digital Experiments, they’re focused on designing delightful and accessible play experiences from their home in the Pacific Northwest.</a:t>
            </a:r>
          </a:p>
        </p:txBody>
      </p:sp>
      <p:sp>
        <p:nvSpPr>
          <p:cNvPr id="6" name="TextBox 5"/>
          <p:cNvSpPr txBox="1"/>
          <p:nvPr/>
        </p:nvSpPr>
        <p:spPr>
          <a:xfrm>
            <a:off x="841248" y="4663440"/>
            <a:ext cx="3383280" cy="1828800"/>
          </a:xfrm>
          <a:prstGeom prst="rect">
            <a:avLst/>
          </a:prstGeom>
          <a:noFill/>
        </p:spPr>
        <p:txBody>
          <a:bodyPr wrap="square" anchor="t" lIns="0" rIns="0" tIns="0" bIns="0">
            <a:spAutoFit/>
          </a:bodyPr>
          <a:lstStyle/>
          <a:p>
            <a:pPr algn="l">
              <a:spcAft>
                <a:spcPts val="800"/>
              </a:spcAft>
            </a:pPr>
            <a:r>
              <a:rPr sz="1100" b="0" spc="120">
                <a:solidFill>
                  <a:srgbClr val="5B53E0"/>
                </a:solidFill>
                <a:latin typeface="JetBrains Mono"/>
              </a:rPr>
              <a:t>SKILLS</a:t>
            </a:r>
          </a:p>
          <a:p>
            <a:pPr algn="l">
              <a:lnSpc>
                <a:spcPct val="105000"/>
              </a:lnSpc>
              <a:spcAft>
                <a:spcPts val="400"/>
              </a:spcAft>
            </a:pPr>
            <a:r>
              <a:rPr sz="1200" b="0">
                <a:solidFill>
                  <a:srgbClr val="6C6A76"/>
                </a:solidFill>
                <a:latin typeface="Inter"/>
              </a:rPr>
              <a:t>Wireframing</a:t>
            </a:r>
          </a:p>
          <a:p>
            <a:pPr algn="l">
              <a:lnSpc>
                <a:spcPct val="105000"/>
              </a:lnSpc>
              <a:spcAft>
                <a:spcPts val="400"/>
              </a:spcAft>
            </a:pPr>
            <a:r>
              <a:rPr sz="1200" b="0">
                <a:solidFill>
                  <a:srgbClr val="6C6A76"/>
                </a:solidFill>
                <a:latin typeface="Inter"/>
              </a:rPr>
              <a:t>Prototyping</a:t>
            </a:r>
          </a:p>
          <a:p>
            <a:pPr algn="l">
              <a:lnSpc>
                <a:spcPct val="105000"/>
              </a:lnSpc>
              <a:spcAft>
                <a:spcPts val="400"/>
              </a:spcAft>
            </a:pPr>
            <a:r>
              <a:rPr sz="1200" b="0">
                <a:solidFill>
                  <a:srgbClr val="6C6A76"/>
                </a:solidFill>
                <a:latin typeface="Inter"/>
              </a:rPr>
              <a:t>Data Visualization</a:t>
            </a:r>
          </a:p>
          <a:p>
            <a:pPr algn="l">
              <a:lnSpc>
                <a:spcPct val="105000"/>
              </a:lnSpc>
              <a:spcAft>
                <a:spcPts val="400"/>
              </a:spcAft>
            </a:pPr>
            <a:r>
              <a:rPr sz="1200" b="0">
                <a:solidFill>
                  <a:srgbClr val="6C6A76"/>
                </a:solidFill>
                <a:latin typeface="Inter"/>
              </a:rPr>
              <a:t>Motion Graphics</a:t>
            </a:r>
          </a:p>
          <a:p>
            <a:pPr algn="l">
              <a:lnSpc>
                <a:spcPct val="105000"/>
              </a:lnSpc>
              <a:spcAft>
                <a:spcPts val="400"/>
              </a:spcAft>
            </a:pPr>
            <a:r>
              <a:rPr sz="1200" b="0">
                <a:solidFill>
                  <a:srgbClr val="6C6A76"/>
                </a:solidFill>
                <a:latin typeface="Inter"/>
              </a:rPr>
              <a:t>Character Design</a:t>
            </a:r>
          </a:p>
        </p:txBody>
      </p:sp>
      <p:sp>
        <p:nvSpPr>
          <p:cNvPr id="7" name="TextBox 6"/>
          <p:cNvSpPr txBox="1"/>
          <p:nvPr/>
        </p:nvSpPr>
        <p:spPr>
          <a:xfrm>
            <a:off x="4608576" y="4663440"/>
            <a:ext cx="3383280" cy="1828800"/>
          </a:xfrm>
          <a:prstGeom prst="rect">
            <a:avLst/>
          </a:prstGeom>
          <a:noFill/>
        </p:spPr>
        <p:txBody>
          <a:bodyPr wrap="square" anchor="t" lIns="0" rIns="0" tIns="0" bIns="0">
            <a:spAutoFit/>
          </a:bodyPr>
          <a:lstStyle/>
          <a:p>
            <a:pPr algn="l">
              <a:spcAft>
                <a:spcPts val="800"/>
              </a:spcAft>
            </a:pPr>
            <a:r>
              <a:rPr sz="1100" b="0" spc="120">
                <a:solidFill>
                  <a:srgbClr val="5B53E0"/>
                </a:solidFill>
                <a:latin typeface="JetBrains Mono"/>
              </a:rPr>
              <a:t>HOBBIES</a:t>
            </a:r>
          </a:p>
          <a:p>
            <a:pPr algn="l">
              <a:lnSpc>
                <a:spcPct val="105000"/>
              </a:lnSpc>
              <a:spcAft>
                <a:spcPts val="400"/>
              </a:spcAft>
            </a:pPr>
            <a:r>
              <a:rPr sz="1200" b="0">
                <a:solidFill>
                  <a:srgbClr val="6C6A76"/>
                </a:solidFill>
                <a:latin typeface="Inter"/>
              </a:rPr>
              <a:t>Taxidermy</a:t>
            </a:r>
          </a:p>
          <a:p>
            <a:pPr algn="l">
              <a:lnSpc>
                <a:spcPct val="105000"/>
              </a:lnSpc>
              <a:spcAft>
                <a:spcPts val="400"/>
              </a:spcAft>
            </a:pPr>
            <a:r>
              <a:rPr sz="1200" b="0">
                <a:solidFill>
                  <a:srgbClr val="6C6A76"/>
                </a:solidFill>
                <a:latin typeface="Inter"/>
              </a:rPr>
              <a:t>TTRPGs</a:t>
            </a:r>
          </a:p>
          <a:p>
            <a:pPr algn="l">
              <a:lnSpc>
                <a:spcPct val="105000"/>
              </a:lnSpc>
              <a:spcAft>
                <a:spcPts val="400"/>
              </a:spcAft>
            </a:pPr>
            <a:r>
              <a:rPr sz="1200" b="0">
                <a:solidFill>
                  <a:srgbClr val="6C6A76"/>
                </a:solidFill>
                <a:latin typeface="Inter"/>
              </a:rPr>
              <a:t>Sewing</a:t>
            </a:r>
          </a:p>
        </p:txBody>
      </p:sp>
      <p:sp>
        <p:nvSpPr>
          <p:cNvPr id="8" name="TextBox 7"/>
          <p:cNvSpPr txBox="1"/>
          <p:nvPr/>
        </p:nvSpPr>
        <p:spPr>
          <a:xfrm>
            <a:off x="8375904" y="4663440"/>
            <a:ext cx="3383280" cy="1828800"/>
          </a:xfrm>
          <a:prstGeom prst="rect">
            <a:avLst/>
          </a:prstGeom>
          <a:noFill/>
        </p:spPr>
        <p:txBody>
          <a:bodyPr wrap="square" anchor="t" lIns="0" rIns="0" tIns="0" bIns="0">
            <a:spAutoFit/>
          </a:bodyPr>
          <a:lstStyle/>
          <a:p>
            <a:pPr algn="l">
              <a:spcAft>
                <a:spcPts val="800"/>
              </a:spcAft>
            </a:pPr>
            <a:r>
              <a:rPr sz="1100" b="0" spc="120">
                <a:solidFill>
                  <a:srgbClr val="5B53E0"/>
                </a:solidFill>
                <a:latin typeface="JetBrains Mono"/>
              </a:rPr>
              <a:t>FAVORITE GAMES</a:t>
            </a:r>
          </a:p>
          <a:p>
            <a:pPr algn="l">
              <a:lnSpc>
                <a:spcPct val="105000"/>
              </a:lnSpc>
              <a:spcAft>
                <a:spcPts val="400"/>
              </a:spcAft>
            </a:pPr>
            <a:r>
              <a:rPr sz="1200" b="0">
                <a:solidFill>
                  <a:srgbClr val="6C6A76"/>
                </a:solidFill>
                <a:latin typeface="Inter"/>
              </a:rPr>
              <a:t>Persona 4</a:t>
            </a:r>
          </a:p>
          <a:p>
            <a:pPr algn="l">
              <a:lnSpc>
                <a:spcPct val="105000"/>
              </a:lnSpc>
              <a:spcAft>
                <a:spcPts val="400"/>
              </a:spcAft>
            </a:pPr>
            <a:r>
              <a:rPr sz="1200" b="0">
                <a:solidFill>
                  <a:srgbClr val="6C6A76"/>
                </a:solidFill>
                <a:latin typeface="Inter"/>
              </a:rPr>
              <a:t>Dragon Age</a:t>
            </a:r>
          </a:p>
          <a:p>
            <a:pPr algn="l">
              <a:lnSpc>
                <a:spcPct val="105000"/>
              </a:lnSpc>
              <a:spcAft>
                <a:spcPts val="400"/>
              </a:spcAft>
            </a:pPr>
            <a:r>
              <a:rPr sz="1200" b="0">
                <a:solidFill>
                  <a:srgbClr val="6C6A76"/>
                </a:solidFill>
                <a:latin typeface="Inter"/>
              </a:rPr>
              <a:t>Sekiro</a:t>
            </a:r>
          </a:p>
          <a:p>
            <a:pPr algn="l">
              <a:lnSpc>
                <a:spcPct val="105000"/>
              </a:lnSpc>
              <a:spcAft>
                <a:spcPts val="400"/>
              </a:spcAft>
            </a:pPr>
            <a:r>
              <a:rPr sz="1200" b="0">
                <a:solidFill>
                  <a:srgbClr val="6C6A76"/>
                </a:solidFill>
                <a:latin typeface="Inter"/>
              </a:rPr>
              <a:t>Genshin Impact</a:t>
            </a:r>
          </a:p>
        </p:txBody>
      </p:sp>
      <p:sp>
        <p:nvSpPr>
          <p:cNvPr id="9" name="TextBox 8"/>
          <p:cNvSpPr txBox="1"/>
          <p:nvPr/>
        </p:nvSpPr>
        <p:spPr>
          <a:xfrm>
            <a:off x="10253167" y="6199632"/>
            <a:ext cx="1097280" cy="320040"/>
          </a:xfrm>
          <a:prstGeom prst="rect">
            <a:avLst/>
          </a:prstGeom>
          <a:noFill/>
        </p:spPr>
        <p:txBody>
          <a:bodyPr wrap="square" anchor="t" lIns="0" rIns="0" tIns="0" bIns="0">
            <a:spAutoFit/>
          </a:bodyPr>
          <a:lstStyle/>
          <a:p>
            <a:pPr algn="r">
              <a:spcAft>
                <a:spcPts val="0"/>
              </a:spcAft>
            </a:pPr>
            <a:r>
              <a:rPr sz="1000" b="0">
                <a:solidFill>
                  <a:srgbClr val="9B99A4"/>
                </a:solidFill>
                <a:latin typeface="JetBrains Mono"/>
              </a:rPr>
              <a:t>07</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841248" y="457200"/>
            <a:ext cx="6305519" cy="365760"/>
          </a:xfrm>
          <a:prstGeom prst="rect">
            <a:avLst/>
          </a:prstGeom>
          <a:noFill/>
        </p:spPr>
        <p:txBody>
          <a:bodyPr wrap="square" anchor="t" lIns="0" rIns="0" tIns="0" bIns="0">
            <a:spAutoFit/>
          </a:bodyPr>
          <a:lstStyle/>
          <a:p>
            <a:pPr algn="l">
              <a:spcAft>
                <a:spcPts val="0"/>
              </a:spcAft>
            </a:pPr>
            <a:r>
              <a:rPr sz="1300" b="1">
                <a:solidFill>
                  <a:srgbClr val="14131A"/>
                </a:solidFill>
                <a:latin typeface="Playfair Display"/>
              </a:rPr>
              <a:t>Digital</a:t>
            </a:r>
            <a:r>
              <a:rPr sz="1300" b="0">
                <a:solidFill>
                  <a:srgbClr val="6C6A76"/>
                </a:solidFill>
                <a:latin typeface="Playfair Display"/>
              </a:rPr>
              <a:t> Experiments</a:t>
            </a:r>
          </a:p>
        </p:txBody>
      </p:sp>
      <p:sp>
        <p:nvSpPr>
          <p:cNvPr id="3" name="TextBox 2"/>
          <p:cNvSpPr txBox="1"/>
          <p:nvPr/>
        </p:nvSpPr>
        <p:spPr>
          <a:xfrm>
            <a:off x="7146767" y="457200"/>
            <a:ext cx="4203679" cy="365760"/>
          </a:xfrm>
          <a:prstGeom prst="rect">
            <a:avLst/>
          </a:prstGeom>
          <a:noFill/>
        </p:spPr>
        <p:txBody>
          <a:bodyPr wrap="square" anchor="t" lIns="0" rIns="0" tIns="0" bIns="0">
            <a:spAutoFit/>
          </a:bodyPr>
          <a:lstStyle/>
          <a:p>
            <a:pPr algn="r">
              <a:spcAft>
                <a:spcPts val="0"/>
              </a:spcAft>
            </a:pPr>
            <a:r>
              <a:rPr sz="1050" b="0" spc="120">
                <a:solidFill>
                  <a:srgbClr val="6C6A76"/>
                </a:solidFill>
                <a:latin typeface="JetBrains Mono"/>
              </a:rPr>
              <a:t>Team · 3 / 6</a:t>
            </a:r>
          </a:p>
        </p:txBody>
      </p:sp>
      <p:sp>
        <p:nvSpPr>
          <p:cNvPr id="4" name="TextBox 3"/>
          <p:cNvSpPr txBox="1"/>
          <p:nvPr/>
        </p:nvSpPr>
        <p:spPr>
          <a:xfrm>
            <a:off x="841248" y="1143000"/>
            <a:ext cx="10509199" cy="1188720"/>
          </a:xfrm>
          <a:prstGeom prst="rect">
            <a:avLst/>
          </a:prstGeom>
          <a:noFill/>
        </p:spPr>
        <p:txBody>
          <a:bodyPr wrap="square" anchor="t" lIns="0" rIns="0" tIns="0" bIns="0">
            <a:spAutoFit/>
          </a:bodyPr>
          <a:lstStyle/>
          <a:p>
            <a:pPr algn="l">
              <a:spcAft>
                <a:spcPts val="400"/>
              </a:spcAft>
            </a:pPr>
            <a:r>
              <a:rPr sz="3400" b="0">
                <a:solidFill>
                  <a:srgbClr val="14131A"/>
                </a:solidFill>
                <a:latin typeface="Playfair Display"/>
              </a:rPr>
              <a:t>Alyssa Yeo</a:t>
            </a:r>
          </a:p>
          <a:p>
            <a:pPr algn="l">
              <a:spcAft>
                <a:spcPts val="600"/>
              </a:spcAft>
            </a:pPr>
            <a:r>
              <a:rPr sz="1200" b="0" spc="80">
                <a:solidFill>
                  <a:srgbClr val="5B53E0"/>
                </a:solidFill>
                <a:latin typeface="JetBrains Mono"/>
              </a:rPr>
              <a:t>UI/UX DESIGNER · GAME DEVELOPMENT / TECH</a:t>
            </a:r>
          </a:p>
        </p:txBody>
      </p:sp>
      <p:sp>
        <p:nvSpPr>
          <p:cNvPr id="5" name="TextBox 4"/>
          <p:cNvSpPr txBox="1"/>
          <p:nvPr/>
        </p:nvSpPr>
        <p:spPr>
          <a:xfrm>
            <a:off x="841248" y="2423160"/>
            <a:ext cx="10509199" cy="1920240"/>
          </a:xfrm>
          <a:prstGeom prst="rect">
            <a:avLst/>
          </a:prstGeom>
          <a:noFill/>
        </p:spPr>
        <p:txBody>
          <a:bodyPr wrap="square" anchor="t" lIns="0" rIns="0" tIns="0" bIns="0">
            <a:spAutoFit/>
          </a:bodyPr>
          <a:lstStyle/>
          <a:p>
            <a:pPr algn="l">
              <a:lnSpc>
                <a:spcPct val="150000"/>
              </a:lnSpc>
              <a:spcAft>
                <a:spcPts val="600"/>
              </a:spcAft>
            </a:pPr>
            <a:r>
              <a:rPr sz="1500" b="0">
                <a:solidFill>
                  <a:srgbClr val="1D1D1D"/>
                </a:solidFill>
                <a:latin typeface="Inter"/>
              </a:rPr>
              <a:t>Alyssa first started out her product design journey in corporate CX, having co-facilitated and strategized workshops for the banking sector in Kuala Lumpur, Malaysia. She’s been sketching, designing, iterating and reiterating prototypes for most of her professional life, drawing from her background in human psychology and natural instincts for branding. Her pivot into video games began with a pandemic-induced dabble into TTRPG design where she reinvigorated her love for narrative writing and producing. With Digital Experiments, Alyssa has completed indie UX projects for startups and gamedev companies, notably Mythical Games and SciPlay. On the side, Alyssa is exploring UI implementation, while indulging in game writing with a love for making unlikely combinations of seemingly incompatible genres.</a:t>
            </a:r>
          </a:p>
        </p:txBody>
      </p:sp>
      <p:sp>
        <p:nvSpPr>
          <p:cNvPr id="6" name="TextBox 5"/>
          <p:cNvSpPr txBox="1"/>
          <p:nvPr/>
        </p:nvSpPr>
        <p:spPr>
          <a:xfrm>
            <a:off x="841248" y="4663440"/>
            <a:ext cx="3383280" cy="1828800"/>
          </a:xfrm>
          <a:prstGeom prst="rect">
            <a:avLst/>
          </a:prstGeom>
          <a:noFill/>
        </p:spPr>
        <p:txBody>
          <a:bodyPr wrap="square" anchor="t" lIns="0" rIns="0" tIns="0" bIns="0">
            <a:spAutoFit/>
          </a:bodyPr>
          <a:lstStyle/>
          <a:p>
            <a:pPr algn="l">
              <a:spcAft>
                <a:spcPts val="800"/>
              </a:spcAft>
            </a:pPr>
            <a:r>
              <a:rPr sz="1100" b="0" spc="120">
                <a:solidFill>
                  <a:srgbClr val="5B53E0"/>
                </a:solidFill>
                <a:latin typeface="JetBrains Mono"/>
              </a:rPr>
              <a:t>SKILLS</a:t>
            </a:r>
          </a:p>
          <a:p>
            <a:pPr algn="l">
              <a:lnSpc>
                <a:spcPct val="105000"/>
              </a:lnSpc>
              <a:spcAft>
                <a:spcPts val="400"/>
              </a:spcAft>
            </a:pPr>
            <a:r>
              <a:rPr sz="1200" b="0">
                <a:solidFill>
                  <a:srgbClr val="6C6A76"/>
                </a:solidFill>
                <a:latin typeface="Inter"/>
              </a:rPr>
              <a:t>UI / UX Design</a:t>
            </a:r>
          </a:p>
          <a:p>
            <a:pPr algn="l">
              <a:lnSpc>
                <a:spcPct val="105000"/>
              </a:lnSpc>
              <a:spcAft>
                <a:spcPts val="400"/>
              </a:spcAft>
            </a:pPr>
            <a:r>
              <a:rPr sz="1200" b="0">
                <a:solidFill>
                  <a:srgbClr val="6C6A76"/>
                </a:solidFill>
                <a:latin typeface="Inter"/>
              </a:rPr>
              <a:t>Narrative Design</a:t>
            </a:r>
          </a:p>
          <a:p>
            <a:pPr algn="l">
              <a:lnSpc>
                <a:spcPct val="105000"/>
              </a:lnSpc>
              <a:spcAft>
                <a:spcPts val="400"/>
              </a:spcAft>
            </a:pPr>
            <a:r>
              <a:rPr sz="1200" b="0">
                <a:solidFill>
                  <a:srgbClr val="6C6A76"/>
                </a:solidFill>
                <a:latin typeface="Inter"/>
              </a:rPr>
              <a:t>High–Low Fidelity Prototyping</a:t>
            </a:r>
          </a:p>
          <a:p>
            <a:pPr algn="l">
              <a:lnSpc>
                <a:spcPct val="105000"/>
              </a:lnSpc>
              <a:spcAft>
                <a:spcPts val="400"/>
              </a:spcAft>
            </a:pPr>
            <a:r>
              <a:rPr sz="1200" b="0">
                <a:solidFill>
                  <a:srgbClr val="6C6A76"/>
                </a:solidFill>
                <a:latin typeface="Inter"/>
              </a:rPr>
              <a:t>Adobe Creative Suite, Figma</a:t>
            </a:r>
          </a:p>
        </p:txBody>
      </p:sp>
      <p:sp>
        <p:nvSpPr>
          <p:cNvPr id="7" name="TextBox 6"/>
          <p:cNvSpPr txBox="1"/>
          <p:nvPr/>
        </p:nvSpPr>
        <p:spPr>
          <a:xfrm>
            <a:off x="4608576" y="4663440"/>
            <a:ext cx="3383280" cy="1828800"/>
          </a:xfrm>
          <a:prstGeom prst="rect">
            <a:avLst/>
          </a:prstGeom>
          <a:noFill/>
        </p:spPr>
        <p:txBody>
          <a:bodyPr wrap="square" anchor="t" lIns="0" rIns="0" tIns="0" bIns="0">
            <a:spAutoFit/>
          </a:bodyPr>
          <a:lstStyle/>
          <a:p>
            <a:pPr algn="l">
              <a:spcAft>
                <a:spcPts val="800"/>
              </a:spcAft>
            </a:pPr>
            <a:r>
              <a:rPr sz="1100" b="0" spc="120">
                <a:solidFill>
                  <a:srgbClr val="5B53E0"/>
                </a:solidFill>
                <a:latin typeface="JetBrains Mono"/>
              </a:rPr>
              <a:t>HOBBIES</a:t>
            </a:r>
          </a:p>
          <a:p>
            <a:pPr algn="l">
              <a:lnSpc>
                <a:spcPct val="105000"/>
              </a:lnSpc>
              <a:spcAft>
                <a:spcPts val="400"/>
              </a:spcAft>
            </a:pPr>
            <a:r>
              <a:rPr sz="1200" b="0">
                <a:solidFill>
                  <a:srgbClr val="6C6A76"/>
                </a:solidFill>
                <a:latin typeface="Inter"/>
              </a:rPr>
              <a:t>Designing tabletop story games</a:t>
            </a:r>
          </a:p>
          <a:p>
            <a:pPr algn="l">
              <a:lnSpc>
                <a:spcPct val="105000"/>
              </a:lnSpc>
              <a:spcAft>
                <a:spcPts val="400"/>
              </a:spcAft>
            </a:pPr>
            <a:r>
              <a:rPr sz="1200" b="0">
                <a:solidFill>
                  <a:srgbClr val="6C6A76"/>
                </a:solidFill>
                <a:latin typeface="Inter"/>
              </a:rPr>
              <a:t>Antique / vintage fashions</a:t>
            </a:r>
          </a:p>
          <a:p>
            <a:pPr algn="l">
              <a:lnSpc>
                <a:spcPct val="105000"/>
              </a:lnSpc>
              <a:spcAft>
                <a:spcPts val="400"/>
              </a:spcAft>
            </a:pPr>
            <a:r>
              <a:rPr sz="1200" b="0">
                <a:solidFill>
                  <a:srgbClr val="6C6A76"/>
                </a:solidFill>
                <a:latin typeface="Inter"/>
              </a:rPr>
              <a:t>Theatre</a:t>
            </a:r>
          </a:p>
          <a:p>
            <a:pPr algn="l">
              <a:lnSpc>
                <a:spcPct val="105000"/>
              </a:lnSpc>
              <a:spcAft>
                <a:spcPts val="400"/>
              </a:spcAft>
            </a:pPr>
            <a:r>
              <a:rPr sz="1200" b="0">
                <a:solidFill>
                  <a:srgbClr val="6C6A76"/>
                </a:solidFill>
                <a:latin typeface="Inter"/>
              </a:rPr>
              <a:t>Big meals from a tiny kitchen</a:t>
            </a:r>
          </a:p>
        </p:txBody>
      </p:sp>
      <p:sp>
        <p:nvSpPr>
          <p:cNvPr id="8" name="TextBox 7"/>
          <p:cNvSpPr txBox="1"/>
          <p:nvPr/>
        </p:nvSpPr>
        <p:spPr>
          <a:xfrm>
            <a:off x="8375904" y="4663440"/>
            <a:ext cx="3383280" cy="1828800"/>
          </a:xfrm>
          <a:prstGeom prst="rect">
            <a:avLst/>
          </a:prstGeom>
          <a:noFill/>
        </p:spPr>
        <p:txBody>
          <a:bodyPr wrap="square" anchor="t" lIns="0" rIns="0" tIns="0" bIns="0">
            <a:spAutoFit/>
          </a:bodyPr>
          <a:lstStyle/>
          <a:p>
            <a:pPr algn="l">
              <a:spcAft>
                <a:spcPts val="800"/>
              </a:spcAft>
            </a:pPr>
            <a:r>
              <a:rPr sz="1100" b="0" spc="120">
                <a:solidFill>
                  <a:srgbClr val="5B53E0"/>
                </a:solidFill>
                <a:latin typeface="JetBrains Mono"/>
              </a:rPr>
              <a:t>FAVORITE GAMES</a:t>
            </a:r>
          </a:p>
          <a:p>
            <a:pPr algn="l">
              <a:lnSpc>
                <a:spcPct val="105000"/>
              </a:lnSpc>
              <a:spcAft>
                <a:spcPts val="400"/>
              </a:spcAft>
            </a:pPr>
            <a:r>
              <a:rPr sz="1200" b="0">
                <a:solidFill>
                  <a:srgbClr val="6C6A76"/>
                </a:solidFill>
                <a:latin typeface="Inter"/>
              </a:rPr>
              <a:t>Red Dead Redemption 2</a:t>
            </a:r>
          </a:p>
          <a:p>
            <a:pPr algn="l">
              <a:lnSpc>
                <a:spcPct val="105000"/>
              </a:lnSpc>
              <a:spcAft>
                <a:spcPts val="400"/>
              </a:spcAft>
            </a:pPr>
            <a:r>
              <a:rPr sz="1200" b="0">
                <a:solidFill>
                  <a:srgbClr val="6C6A76"/>
                </a:solidFill>
                <a:latin typeface="Inter"/>
              </a:rPr>
              <a:t>Disco Elysium</a:t>
            </a:r>
          </a:p>
          <a:p>
            <a:pPr algn="l">
              <a:lnSpc>
                <a:spcPct val="105000"/>
              </a:lnSpc>
              <a:spcAft>
                <a:spcPts val="400"/>
              </a:spcAft>
            </a:pPr>
            <a:r>
              <a:rPr sz="1200" b="0">
                <a:solidFill>
                  <a:srgbClr val="6C6A76"/>
                </a:solidFill>
                <a:latin typeface="Inter"/>
              </a:rPr>
              <a:t>Inside</a:t>
            </a:r>
          </a:p>
          <a:p>
            <a:pPr algn="l">
              <a:lnSpc>
                <a:spcPct val="105000"/>
              </a:lnSpc>
              <a:spcAft>
                <a:spcPts val="400"/>
              </a:spcAft>
            </a:pPr>
            <a:r>
              <a:rPr sz="1200" b="0">
                <a:solidFill>
                  <a:srgbClr val="6C6A76"/>
                </a:solidFill>
                <a:latin typeface="Inter"/>
              </a:rPr>
              <a:t>Dragon Age</a:t>
            </a:r>
          </a:p>
        </p:txBody>
      </p:sp>
      <p:sp>
        <p:nvSpPr>
          <p:cNvPr id="9" name="TextBox 8"/>
          <p:cNvSpPr txBox="1"/>
          <p:nvPr/>
        </p:nvSpPr>
        <p:spPr>
          <a:xfrm>
            <a:off x="10253167" y="6199632"/>
            <a:ext cx="1097280" cy="320040"/>
          </a:xfrm>
          <a:prstGeom prst="rect">
            <a:avLst/>
          </a:prstGeom>
          <a:noFill/>
        </p:spPr>
        <p:txBody>
          <a:bodyPr wrap="square" anchor="t" lIns="0" rIns="0" tIns="0" bIns="0">
            <a:spAutoFit/>
          </a:bodyPr>
          <a:lstStyle/>
          <a:p>
            <a:pPr algn="r">
              <a:spcAft>
                <a:spcPts val="0"/>
              </a:spcAft>
            </a:pPr>
            <a:r>
              <a:rPr sz="1000" b="0">
                <a:solidFill>
                  <a:srgbClr val="9B99A4"/>
                </a:solidFill>
                <a:latin typeface="JetBrains Mono"/>
              </a:rPr>
              <a:t>08</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6F5F2"/>
        </a:solidFill>
        <a:effectLst/>
      </p:bgPr>
    </p:bg>
    <p:spTree>
      <p:nvGrpSpPr>
        <p:cNvPr id="1" name=""/>
        <p:cNvGrpSpPr/>
        <p:nvPr/>
      </p:nvGrpSpPr>
      <p:grpSpPr/>
      <p:sp>
        <p:nvSpPr>
          <p:cNvPr id="2" name="TextBox 1"/>
          <p:cNvSpPr txBox="1"/>
          <p:nvPr/>
        </p:nvSpPr>
        <p:spPr>
          <a:xfrm>
            <a:off x="841248" y="457200"/>
            <a:ext cx="6305519" cy="365760"/>
          </a:xfrm>
          <a:prstGeom prst="rect">
            <a:avLst/>
          </a:prstGeom>
          <a:noFill/>
        </p:spPr>
        <p:txBody>
          <a:bodyPr wrap="square" anchor="t" lIns="0" rIns="0" tIns="0" bIns="0">
            <a:spAutoFit/>
          </a:bodyPr>
          <a:lstStyle/>
          <a:p>
            <a:pPr algn="l">
              <a:spcAft>
                <a:spcPts val="0"/>
              </a:spcAft>
            </a:pPr>
            <a:r>
              <a:rPr sz="1300" b="1">
                <a:solidFill>
                  <a:srgbClr val="14131A"/>
                </a:solidFill>
                <a:latin typeface="Playfair Display"/>
              </a:rPr>
              <a:t>Digital</a:t>
            </a:r>
            <a:r>
              <a:rPr sz="1300" b="0">
                <a:solidFill>
                  <a:srgbClr val="6C6A76"/>
                </a:solidFill>
                <a:latin typeface="Playfair Display"/>
              </a:rPr>
              <a:t> Experiments</a:t>
            </a:r>
          </a:p>
        </p:txBody>
      </p:sp>
      <p:sp>
        <p:nvSpPr>
          <p:cNvPr id="3" name="TextBox 2"/>
          <p:cNvSpPr txBox="1"/>
          <p:nvPr/>
        </p:nvSpPr>
        <p:spPr>
          <a:xfrm>
            <a:off x="7146767" y="457200"/>
            <a:ext cx="4203679" cy="365760"/>
          </a:xfrm>
          <a:prstGeom prst="rect">
            <a:avLst/>
          </a:prstGeom>
          <a:noFill/>
        </p:spPr>
        <p:txBody>
          <a:bodyPr wrap="square" anchor="t" lIns="0" rIns="0" tIns="0" bIns="0">
            <a:spAutoFit/>
          </a:bodyPr>
          <a:lstStyle/>
          <a:p>
            <a:pPr algn="r">
              <a:spcAft>
                <a:spcPts val="0"/>
              </a:spcAft>
            </a:pPr>
            <a:r>
              <a:rPr sz="1050" b="0" spc="120">
                <a:solidFill>
                  <a:srgbClr val="6C6A76"/>
                </a:solidFill>
                <a:latin typeface="JetBrains Mono"/>
              </a:rPr>
              <a:t>Team · 4 / 6</a:t>
            </a:r>
          </a:p>
        </p:txBody>
      </p:sp>
      <p:sp>
        <p:nvSpPr>
          <p:cNvPr id="4" name="TextBox 3"/>
          <p:cNvSpPr txBox="1"/>
          <p:nvPr/>
        </p:nvSpPr>
        <p:spPr>
          <a:xfrm>
            <a:off x="841248" y="1143000"/>
            <a:ext cx="10509199" cy="1188720"/>
          </a:xfrm>
          <a:prstGeom prst="rect">
            <a:avLst/>
          </a:prstGeom>
          <a:noFill/>
        </p:spPr>
        <p:txBody>
          <a:bodyPr wrap="square" anchor="t" lIns="0" rIns="0" tIns="0" bIns="0">
            <a:spAutoFit/>
          </a:bodyPr>
          <a:lstStyle/>
          <a:p>
            <a:pPr algn="l">
              <a:spcAft>
                <a:spcPts val="400"/>
              </a:spcAft>
            </a:pPr>
            <a:r>
              <a:rPr sz="3400" b="0">
                <a:solidFill>
                  <a:srgbClr val="14131A"/>
                </a:solidFill>
                <a:latin typeface="Playfair Display"/>
              </a:rPr>
              <a:t>Kelsey Phelan</a:t>
            </a:r>
          </a:p>
          <a:p>
            <a:pPr algn="l">
              <a:spcAft>
                <a:spcPts val="600"/>
              </a:spcAft>
            </a:pPr>
            <a:r>
              <a:rPr sz="1200" b="0" spc="80">
                <a:solidFill>
                  <a:srgbClr val="5B53E0"/>
                </a:solidFill>
                <a:latin typeface="JetBrains Mono"/>
              </a:rPr>
              <a:t>UI/UX DESIGNER · RESEARCH / GAME DEVELOPMENT</a:t>
            </a:r>
          </a:p>
        </p:txBody>
      </p:sp>
      <p:sp>
        <p:nvSpPr>
          <p:cNvPr id="5" name="TextBox 4"/>
          <p:cNvSpPr txBox="1"/>
          <p:nvPr/>
        </p:nvSpPr>
        <p:spPr>
          <a:xfrm>
            <a:off x="841248" y="2423160"/>
            <a:ext cx="10509199" cy="1920240"/>
          </a:xfrm>
          <a:prstGeom prst="rect">
            <a:avLst/>
          </a:prstGeom>
          <a:noFill/>
        </p:spPr>
        <p:txBody>
          <a:bodyPr wrap="square" anchor="t" lIns="0" rIns="0" tIns="0" bIns="0">
            <a:spAutoFit/>
          </a:bodyPr>
          <a:lstStyle/>
          <a:p>
            <a:pPr algn="l">
              <a:lnSpc>
                <a:spcPct val="150000"/>
              </a:lnSpc>
              <a:spcAft>
                <a:spcPts val="600"/>
              </a:spcAft>
            </a:pPr>
            <a:r>
              <a:rPr sz="1500" b="0">
                <a:solidFill>
                  <a:srgbClr val="1D1D1D"/>
                </a:solidFill>
                <a:latin typeface="Inter"/>
              </a:rPr>
              <a:t>Kelsey has always had a fascination with research. During her Biomedical Engineering master’s program, she conducted research with Alzheimer’s Disease patients. It became clear that a person’s interactions with technology would be a limiting factor in their understanding. From there, Kelsey delved into UX Design to better understand how we could utilize technology as a society to create a more understanding and inclusive culture overall. Her background in research has provided valuable insight for finding research artifacts, a go-getter attitude and crafting solutions. Her UX work has focused on XR apps for science study, a social scavenger hunt game, and other games.</a:t>
            </a:r>
          </a:p>
        </p:txBody>
      </p:sp>
      <p:sp>
        <p:nvSpPr>
          <p:cNvPr id="6" name="TextBox 5"/>
          <p:cNvSpPr txBox="1"/>
          <p:nvPr/>
        </p:nvSpPr>
        <p:spPr>
          <a:xfrm>
            <a:off x="841248" y="4663440"/>
            <a:ext cx="3383280" cy="1828800"/>
          </a:xfrm>
          <a:prstGeom prst="rect">
            <a:avLst/>
          </a:prstGeom>
          <a:noFill/>
        </p:spPr>
        <p:txBody>
          <a:bodyPr wrap="square" anchor="t" lIns="0" rIns="0" tIns="0" bIns="0">
            <a:spAutoFit/>
          </a:bodyPr>
          <a:lstStyle/>
          <a:p>
            <a:pPr algn="l">
              <a:spcAft>
                <a:spcPts val="800"/>
              </a:spcAft>
            </a:pPr>
            <a:r>
              <a:rPr sz="1100" b="0" spc="120">
                <a:solidFill>
                  <a:srgbClr val="5B53E0"/>
                </a:solidFill>
                <a:latin typeface="JetBrains Mono"/>
              </a:rPr>
              <a:t>SKILLS</a:t>
            </a:r>
          </a:p>
          <a:p>
            <a:pPr algn="l">
              <a:lnSpc>
                <a:spcPct val="105000"/>
              </a:lnSpc>
              <a:spcAft>
                <a:spcPts val="400"/>
              </a:spcAft>
            </a:pPr>
            <a:r>
              <a:rPr sz="1200" b="0">
                <a:solidFill>
                  <a:srgbClr val="6C6A76"/>
                </a:solidFill>
                <a:latin typeface="Inter"/>
              </a:rPr>
              <a:t>Wireframing</a:t>
            </a:r>
          </a:p>
          <a:p>
            <a:pPr algn="l">
              <a:lnSpc>
                <a:spcPct val="105000"/>
              </a:lnSpc>
              <a:spcAft>
                <a:spcPts val="400"/>
              </a:spcAft>
            </a:pPr>
            <a:r>
              <a:rPr sz="1200" b="0">
                <a:solidFill>
                  <a:srgbClr val="6C6A76"/>
                </a:solidFill>
                <a:latin typeface="Inter"/>
              </a:rPr>
              <a:t>UX Design</a:t>
            </a:r>
          </a:p>
          <a:p>
            <a:pPr algn="l">
              <a:lnSpc>
                <a:spcPct val="105000"/>
              </a:lnSpc>
              <a:spcAft>
                <a:spcPts val="400"/>
              </a:spcAft>
            </a:pPr>
            <a:r>
              <a:rPr sz="1200" b="0">
                <a:solidFill>
                  <a:srgbClr val="6C6A76"/>
                </a:solidFill>
                <a:latin typeface="Inter"/>
              </a:rPr>
              <a:t>Data Visualization</a:t>
            </a:r>
          </a:p>
          <a:p>
            <a:pPr algn="l">
              <a:lnSpc>
                <a:spcPct val="105000"/>
              </a:lnSpc>
              <a:spcAft>
                <a:spcPts val="400"/>
              </a:spcAft>
            </a:pPr>
            <a:r>
              <a:rPr sz="1200" b="0">
                <a:solidFill>
                  <a:srgbClr val="6C6A76"/>
                </a:solidFill>
                <a:latin typeface="Inter"/>
              </a:rPr>
              <a:t>Research Synthesis</a:t>
            </a:r>
          </a:p>
        </p:txBody>
      </p:sp>
      <p:sp>
        <p:nvSpPr>
          <p:cNvPr id="7" name="TextBox 6"/>
          <p:cNvSpPr txBox="1"/>
          <p:nvPr/>
        </p:nvSpPr>
        <p:spPr>
          <a:xfrm>
            <a:off x="4608576" y="4663440"/>
            <a:ext cx="3383280" cy="1828800"/>
          </a:xfrm>
          <a:prstGeom prst="rect">
            <a:avLst/>
          </a:prstGeom>
          <a:noFill/>
        </p:spPr>
        <p:txBody>
          <a:bodyPr wrap="square" anchor="t" lIns="0" rIns="0" tIns="0" bIns="0">
            <a:spAutoFit/>
          </a:bodyPr>
          <a:lstStyle/>
          <a:p>
            <a:pPr algn="l">
              <a:spcAft>
                <a:spcPts val="800"/>
              </a:spcAft>
            </a:pPr>
            <a:r>
              <a:rPr sz="1100" b="0" spc="120">
                <a:solidFill>
                  <a:srgbClr val="5B53E0"/>
                </a:solidFill>
                <a:latin typeface="JetBrains Mono"/>
              </a:rPr>
              <a:t>HOBBIES</a:t>
            </a:r>
          </a:p>
          <a:p>
            <a:pPr algn="l">
              <a:lnSpc>
                <a:spcPct val="105000"/>
              </a:lnSpc>
              <a:spcAft>
                <a:spcPts val="400"/>
              </a:spcAft>
            </a:pPr>
            <a:r>
              <a:rPr sz="1200" b="0">
                <a:solidFill>
                  <a:srgbClr val="6C6A76"/>
                </a:solidFill>
                <a:latin typeface="Inter"/>
              </a:rPr>
              <a:t>Activity map of the city</a:t>
            </a:r>
          </a:p>
          <a:p>
            <a:pPr algn="l">
              <a:lnSpc>
                <a:spcPct val="105000"/>
              </a:lnSpc>
              <a:spcAft>
                <a:spcPts val="400"/>
              </a:spcAft>
            </a:pPr>
            <a:r>
              <a:rPr sz="1200" b="0">
                <a:solidFill>
                  <a:srgbClr val="6C6A76"/>
                </a:solidFill>
                <a:latin typeface="Inter"/>
              </a:rPr>
              <a:t>Aerial Arts</a:t>
            </a:r>
          </a:p>
          <a:p>
            <a:pPr algn="l">
              <a:lnSpc>
                <a:spcPct val="105000"/>
              </a:lnSpc>
              <a:spcAft>
                <a:spcPts val="400"/>
              </a:spcAft>
            </a:pPr>
            <a:r>
              <a:rPr sz="1200" b="0">
                <a:solidFill>
                  <a:srgbClr val="6C6A76"/>
                </a:solidFill>
                <a:latin typeface="Inter"/>
              </a:rPr>
              <a:t>DM of 5E DnD</a:t>
            </a:r>
          </a:p>
          <a:p>
            <a:pPr algn="l">
              <a:lnSpc>
                <a:spcPct val="105000"/>
              </a:lnSpc>
              <a:spcAft>
                <a:spcPts val="400"/>
              </a:spcAft>
            </a:pPr>
            <a:r>
              <a:rPr sz="1200" b="0">
                <a:solidFill>
                  <a:srgbClr val="6C6A76"/>
                </a:solidFill>
                <a:latin typeface="Inter"/>
              </a:rPr>
              <a:t>Animations</a:t>
            </a:r>
          </a:p>
        </p:txBody>
      </p:sp>
      <p:sp>
        <p:nvSpPr>
          <p:cNvPr id="8" name="TextBox 7"/>
          <p:cNvSpPr txBox="1"/>
          <p:nvPr/>
        </p:nvSpPr>
        <p:spPr>
          <a:xfrm>
            <a:off x="8375904" y="4663440"/>
            <a:ext cx="3383280" cy="1828800"/>
          </a:xfrm>
          <a:prstGeom prst="rect">
            <a:avLst/>
          </a:prstGeom>
          <a:noFill/>
        </p:spPr>
        <p:txBody>
          <a:bodyPr wrap="square" anchor="t" lIns="0" rIns="0" tIns="0" bIns="0">
            <a:spAutoFit/>
          </a:bodyPr>
          <a:lstStyle/>
          <a:p>
            <a:pPr algn="l">
              <a:spcAft>
                <a:spcPts val="800"/>
              </a:spcAft>
            </a:pPr>
            <a:r>
              <a:rPr sz="1100" b="0" spc="120">
                <a:solidFill>
                  <a:srgbClr val="5B53E0"/>
                </a:solidFill>
                <a:latin typeface="JetBrains Mono"/>
              </a:rPr>
              <a:t>FAVORITE GAMES</a:t>
            </a:r>
          </a:p>
          <a:p>
            <a:pPr algn="l">
              <a:lnSpc>
                <a:spcPct val="105000"/>
              </a:lnSpc>
              <a:spcAft>
                <a:spcPts val="400"/>
              </a:spcAft>
            </a:pPr>
            <a:r>
              <a:rPr sz="1200" b="0">
                <a:solidFill>
                  <a:srgbClr val="6C6A76"/>
                </a:solidFill>
                <a:latin typeface="Inter"/>
              </a:rPr>
              <a:t>Persona 3</a:t>
            </a:r>
          </a:p>
          <a:p>
            <a:pPr algn="l">
              <a:lnSpc>
                <a:spcPct val="105000"/>
              </a:lnSpc>
              <a:spcAft>
                <a:spcPts val="400"/>
              </a:spcAft>
            </a:pPr>
            <a:r>
              <a:rPr sz="1200" b="0">
                <a:solidFill>
                  <a:srgbClr val="6C6A76"/>
                </a:solidFill>
                <a:latin typeface="Inter"/>
              </a:rPr>
              <a:t>Chrono Trigger</a:t>
            </a:r>
          </a:p>
          <a:p>
            <a:pPr algn="l">
              <a:lnSpc>
                <a:spcPct val="105000"/>
              </a:lnSpc>
              <a:spcAft>
                <a:spcPts val="400"/>
              </a:spcAft>
            </a:pPr>
            <a:r>
              <a:rPr sz="1200" b="0">
                <a:solidFill>
                  <a:srgbClr val="6C6A76"/>
                </a:solidFill>
                <a:latin typeface="Inter"/>
              </a:rPr>
              <a:t>Shadow of the Colossus</a:t>
            </a:r>
          </a:p>
          <a:p>
            <a:pPr algn="l">
              <a:lnSpc>
                <a:spcPct val="105000"/>
              </a:lnSpc>
              <a:spcAft>
                <a:spcPts val="400"/>
              </a:spcAft>
            </a:pPr>
            <a:r>
              <a:rPr sz="1200" b="0">
                <a:solidFill>
                  <a:srgbClr val="6C6A76"/>
                </a:solidFill>
                <a:latin typeface="Inter"/>
              </a:rPr>
              <a:t>Psychonauts</a:t>
            </a:r>
          </a:p>
        </p:txBody>
      </p:sp>
      <p:sp>
        <p:nvSpPr>
          <p:cNvPr id="9" name="TextBox 8"/>
          <p:cNvSpPr txBox="1"/>
          <p:nvPr/>
        </p:nvSpPr>
        <p:spPr>
          <a:xfrm>
            <a:off x="10253167" y="6199632"/>
            <a:ext cx="1097280" cy="320040"/>
          </a:xfrm>
          <a:prstGeom prst="rect">
            <a:avLst/>
          </a:prstGeom>
          <a:noFill/>
        </p:spPr>
        <p:txBody>
          <a:bodyPr wrap="square" anchor="t" lIns="0" rIns="0" tIns="0" bIns="0">
            <a:spAutoFit/>
          </a:bodyPr>
          <a:lstStyle/>
          <a:p>
            <a:pPr algn="r">
              <a:spcAft>
                <a:spcPts val="0"/>
              </a:spcAft>
            </a:pPr>
            <a:r>
              <a:rPr sz="1000" b="0">
                <a:solidFill>
                  <a:srgbClr val="9B99A4"/>
                </a:solidFill>
                <a:latin typeface="JetBrains Mono"/>
              </a:rPr>
              <a:t>09</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841248" y="457200"/>
            <a:ext cx="6305519" cy="365760"/>
          </a:xfrm>
          <a:prstGeom prst="rect">
            <a:avLst/>
          </a:prstGeom>
          <a:noFill/>
        </p:spPr>
        <p:txBody>
          <a:bodyPr wrap="square" anchor="t" lIns="0" rIns="0" tIns="0" bIns="0">
            <a:spAutoFit/>
          </a:bodyPr>
          <a:lstStyle/>
          <a:p>
            <a:pPr algn="l">
              <a:spcAft>
                <a:spcPts val="0"/>
              </a:spcAft>
            </a:pPr>
            <a:r>
              <a:rPr sz="1300" b="1">
                <a:solidFill>
                  <a:srgbClr val="14131A"/>
                </a:solidFill>
                <a:latin typeface="Playfair Display"/>
              </a:rPr>
              <a:t>Digital</a:t>
            </a:r>
            <a:r>
              <a:rPr sz="1300" b="0">
                <a:solidFill>
                  <a:srgbClr val="6C6A76"/>
                </a:solidFill>
                <a:latin typeface="Playfair Display"/>
              </a:rPr>
              <a:t> Experiments</a:t>
            </a:r>
          </a:p>
        </p:txBody>
      </p:sp>
      <p:sp>
        <p:nvSpPr>
          <p:cNvPr id="3" name="TextBox 2"/>
          <p:cNvSpPr txBox="1"/>
          <p:nvPr/>
        </p:nvSpPr>
        <p:spPr>
          <a:xfrm>
            <a:off x="7146767" y="457200"/>
            <a:ext cx="4203679" cy="365760"/>
          </a:xfrm>
          <a:prstGeom prst="rect">
            <a:avLst/>
          </a:prstGeom>
          <a:noFill/>
        </p:spPr>
        <p:txBody>
          <a:bodyPr wrap="square" anchor="t" lIns="0" rIns="0" tIns="0" bIns="0">
            <a:spAutoFit/>
          </a:bodyPr>
          <a:lstStyle/>
          <a:p>
            <a:pPr algn="r">
              <a:spcAft>
                <a:spcPts val="0"/>
              </a:spcAft>
            </a:pPr>
            <a:r>
              <a:rPr sz="1050" b="0" spc="120">
                <a:solidFill>
                  <a:srgbClr val="6C6A76"/>
                </a:solidFill>
                <a:latin typeface="JetBrains Mono"/>
              </a:rPr>
              <a:t>Team · 5 / 6</a:t>
            </a:r>
          </a:p>
        </p:txBody>
      </p:sp>
      <p:sp>
        <p:nvSpPr>
          <p:cNvPr id="4" name="TextBox 3"/>
          <p:cNvSpPr txBox="1"/>
          <p:nvPr/>
        </p:nvSpPr>
        <p:spPr>
          <a:xfrm>
            <a:off x="841248" y="1143000"/>
            <a:ext cx="10509199" cy="1188720"/>
          </a:xfrm>
          <a:prstGeom prst="rect">
            <a:avLst/>
          </a:prstGeom>
          <a:noFill/>
        </p:spPr>
        <p:txBody>
          <a:bodyPr wrap="square" anchor="t" lIns="0" rIns="0" tIns="0" bIns="0">
            <a:spAutoFit/>
          </a:bodyPr>
          <a:lstStyle/>
          <a:p>
            <a:pPr algn="l">
              <a:spcAft>
                <a:spcPts val="400"/>
              </a:spcAft>
            </a:pPr>
            <a:r>
              <a:rPr sz="3400" b="0">
                <a:solidFill>
                  <a:srgbClr val="14131A"/>
                </a:solidFill>
                <a:latin typeface="Playfair Display"/>
              </a:rPr>
              <a:t>Hannah Kinzinger</a:t>
            </a:r>
          </a:p>
          <a:p>
            <a:pPr algn="l">
              <a:spcAft>
                <a:spcPts val="600"/>
              </a:spcAft>
            </a:pPr>
            <a:r>
              <a:rPr sz="1200" b="0" spc="80">
                <a:solidFill>
                  <a:srgbClr val="5B53E0"/>
                </a:solidFill>
                <a:latin typeface="JetBrains Mono"/>
              </a:rPr>
              <a:t>ENGINEER · GAMEPLAY / GENERALIST</a:t>
            </a:r>
          </a:p>
        </p:txBody>
      </p:sp>
      <p:sp>
        <p:nvSpPr>
          <p:cNvPr id="5" name="TextBox 4"/>
          <p:cNvSpPr txBox="1"/>
          <p:nvPr/>
        </p:nvSpPr>
        <p:spPr>
          <a:xfrm>
            <a:off x="841248" y="2423160"/>
            <a:ext cx="10509199" cy="1920240"/>
          </a:xfrm>
          <a:prstGeom prst="rect">
            <a:avLst/>
          </a:prstGeom>
          <a:noFill/>
        </p:spPr>
        <p:txBody>
          <a:bodyPr wrap="square" anchor="t" lIns="0" rIns="0" tIns="0" bIns="0">
            <a:spAutoFit/>
          </a:bodyPr>
          <a:lstStyle/>
          <a:p>
            <a:pPr algn="l">
              <a:lnSpc>
                <a:spcPct val="150000"/>
              </a:lnSpc>
              <a:spcAft>
                <a:spcPts val="600"/>
              </a:spcAft>
            </a:pPr>
            <a:r>
              <a:rPr sz="1500" b="0">
                <a:solidFill>
                  <a:srgbClr val="1D1D1D"/>
                </a:solidFill>
                <a:latin typeface="Inter"/>
              </a:rPr>
              <a:t>A talented software engineer with a broad range of knowledge in multiple disciplines, Hannah has worn several hats in her game design career. She lead an ad hoc indie game team on designing and developing several projects using flexible, scalable software solutions in a high pressure environment. Her work teaching programming fundamentals to hundreds of students between the ages of 11 and 14 honed her communication skills. Hannah brings all of this and more to Digital Experiments, where she has coordinated, implemented, and tested software systems on upcoming titles.</a:t>
            </a:r>
          </a:p>
        </p:txBody>
      </p:sp>
      <p:sp>
        <p:nvSpPr>
          <p:cNvPr id="6" name="TextBox 5"/>
          <p:cNvSpPr txBox="1"/>
          <p:nvPr/>
        </p:nvSpPr>
        <p:spPr>
          <a:xfrm>
            <a:off x="841248" y="4663440"/>
            <a:ext cx="3383280" cy="1828800"/>
          </a:xfrm>
          <a:prstGeom prst="rect">
            <a:avLst/>
          </a:prstGeom>
          <a:noFill/>
        </p:spPr>
        <p:txBody>
          <a:bodyPr wrap="square" anchor="t" lIns="0" rIns="0" tIns="0" bIns="0">
            <a:spAutoFit/>
          </a:bodyPr>
          <a:lstStyle/>
          <a:p>
            <a:pPr algn="l">
              <a:spcAft>
                <a:spcPts val="800"/>
              </a:spcAft>
            </a:pPr>
            <a:r>
              <a:rPr sz="1100" b="0" spc="120">
                <a:solidFill>
                  <a:srgbClr val="5B53E0"/>
                </a:solidFill>
                <a:latin typeface="JetBrains Mono"/>
              </a:rPr>
              <a:t>SKILLS</a:t>
            </a:r>
          </a:p>
          <a:p>
            <a:pPr algn="l">
              <a:lnSpc>
                <a:spcPct val="105000"/>
              </a:lnSpc>
              <a:spcAft>
                <a:spcPts val="400"/>
              </a:spcAft>
            </a:pPr>
            <a:r>
              <a:rPr sz="1200" b="0">
                <a:solidFill>
                  <a:srgbClr val="6C6A76"/>
                </a:solidFill>
                <a:latin typeface="Inter"/>
              </a:rPr>
              <a:t>Unity</a:t>
            </a:r>
          </a:p>
          <a:p>
            <a:pPr algn="l">
              <a:lnSpc>
                <a:spcPct val="105000"/>
              </a:lnSpc>
              <a:spcAft>
                <a:spcPts val="400"/>
              </a:spcAft>
            </a:pPr>
            <a:r>
              <a:rPr sz="1200" b="0">
                <a:solidFill>
                  <a:srgbClr val="6C6A76"/>
                </a:solidFill>
                <a:latin typeface="Inter"/>
              </a:rPr>
              <a:t>C# and multiple other languages</a:t>
            </a:r>
          </a:p>
          <a:p>
            <a:pPr algn="l">
              <a:lnSpc>
                <a:spcPct val="105000"/>
              </a:lnSpc>
              <a:spcAft>
                <a:spcPts val="400"/>
              </a:spcAft>
            </a:pPr>
            <a:r>
              <a:rPr sz="1200" b="0">
                <a:solidFill>
                  <a:srgbClr val="6C6A76"/>
                </a:solidFill>
                <a:latin typeface="Inter"/>
              </a:rPr>
              <a:t>Flexible Interdisciplinary Communicator</a:t>
            </a:r>
          </a:p>
          <a:p>
            <a:pPr algn="l">
              <a:lnSpc>
                <a:spcPct val="105000"/>
              </a:lnSpc>
              <a:spcAft>
                <a:spcPts val="400"/>
              </a:spcAft>
            </a:pPr>
            <a:r>
              <a:rPr sz="1200" b="0">
                <a:solidFill>
                  <a:srgbClr val="6C6A76"/>
                </a:solidFill>
                <a:latin typeface="Inter"/>
              </a:rPr>
              <a:t>Visual Studio</a:t>
            </a:r>
          </a:p>
        </p:txBody>
      </p:sp>
      <p:sp>
        <p:nvSpPr>
          <p:cNvPr id="7" name="TextBox 6"/>
          <p:cNvSpPr txBox="1"/>
          <p:nvPr/>
        </p:nvSpPr>
        <p:spPr>
          <a:xfrm>
            <a:off x="4608576" y="4663440"/>
            <a:ext cx="3383280" cy="1828800"/>
          </a:xfrm>
          <a:prstGeom prst="rect">
            <a:avLst/>
          </a:prstGeom>
          <a:noFill/>
        </p:spPr>
        <p:txBody>
          <a:bodyPr wrap="square" anchor="t" lIns="0" rIns="0" tIns="0" bIns="0">
            <a:spAutoFit/>
          </a:bodyPr>
          <a:lstStyle/>
          <a:p>
            <a:pPr algn="l">
              <a:spcAft>
                <a:spcPts val="800"/>
              </a:spcAft>
            </a:pPr>
            <a:r>
              <a:rPr sz="1100" b="0" spc="120">
                <a:solidFill>
                  <a:srgbClr val="5B53E0"/>
                </a:solidFill>
                <a:latin typeface="JetBrains Mono"/>
              </a:rPr>
              <a:t>HOBBIES</a:t>
            </a:r>
          </a:p>
          <a:p>
            <a:pPr algn="l">
              <a:lnSpc>
                <a:spcPct val="105000"/>
              </a:lnSpc>
              <a:spcAft>
                <a:spcPts val="400"/>
              </a:spcAft>
            </a:pPr>
            <a:r>
              <a:rPr sz="1200" b="0">
                <a:solidFill>
                  <a:srgbClr val="6C6A76"/>
                </a:solidFill>
                <a:latin typeface="Inter"/>
              </a:rPr>
              <a:t>Tabletop RPGs</a:t>
            </a:r>
          </a:p>
          <a:p>
            <a:pPr algn="l">
              <a:lnSpc>
                <a:spcPct val="105000"/>
              </a:lnSpc>
              <a:spcAft>
                <a:spcPts val="400"/>
              </a:spcAft>
            </a:pPr>
            <a:r>
              <a:rPr sz="1200" b="0">
                <a:solidFill>
                  <a:srgbClr val="6C6A76"/>
                </a:solidFill>
                <a:latin typeface="Inter"/>
              </a:rPr>
              <a:t>Digital Painting</a:t>
            </a:r>
          </a:p>
          <a:p>
            <a:pPr algn="l">
              <a:lnSpc>
                <a:spcPct val="105000"/>
              </a:lnSpc>
              <a:spcAft>
                <a:spcPts val="400"/>
              </a:spcAft>
            </a:pPr>
            <a:r>
              <a:rPr sz="1200" b="0">
                <a:solidFill>
                  <a:srgbClr val="6C6A76"/>
                </a:solidFill>
                <a:latin typeface="Inter"/>
              </a:rPr>
              <a:t>Stargazing</a:t>
            </a:r>
          </a:p>
        </p:txBody>
      </p:sp>
      <p:sp>
        <p:nvSpPr>
          <p:cNvPr id="8" name="TextBox 7"/>
          <p:cNvSpPr txBox="1"/>
          <p:nvPr/>
        </p:nvSpPr>
        <p:spPr>
          <a:xfrm>
            <a:off x="8375904" y="4663440"/>
            <a:ext cx="3383280" cy="1828800"/>
          </a:xfrm>
          <a:prstGeom prst="rect">
            <a:avLst/>
          </a:prstGeom>
          <a:noFill/>
        </p:spPr>
        <p:txBody>
          <a:bodyPr wrap="square" anchor="t" lIns="0" rIns="0" tIns="0" bIns="0">
            <a:spAutoFit/>
          </a:bodyPr>
          <a:lstStyle/>
          <a:p>
            <a:pPr algn="l">
              <a:spcAft>
                <a:spcPts val="800"/>
              </a:spcAft>
            </a:pPr>
            <a:r>
              <a:rPr sz="1100" b="0" spc="120">
                <a:solidFill>
                  <a:srgbClr val="5B53E0"/>
                </a:solidFill>
                <a:latin typeface="JetBrains Mono"/>
              </a:rPr>
              <a:t>FAVORITE GAMES</a:t>
            </a:r>
          </a:p>
          <a:p>
            <a:pPr algn="l">
              <a:lnSpc>
                <a:spcPct val="105000"/>
              </a:lnSpc>
              <a:spcAft>
                <a:spcPts val="400"/>
              </a:spcAft>
            </a:pPr>
            <a:r>
              <a:rPr sz="1200" b="0">
                <a:solidFill>
                  <a:srgbClr val="6C6A76"/>
                </a:solidFill>
                <a:latin typeface="Inter"/>
              </a:rPr>
              <a:t>Final Fantasy XIV</a:t>
            </a:r>
          </a:p>
          <a:p>
            <a:pPr algn="l">
              <a:lnSpc>
                <a:spcPct val="105000"/>
              </a:lnSpc>
              <a:spcAft>
                <a:spcPts val="400"/>
              </a:spcAft>
            </a:pPr>
            <a:r>
              <a:rPr sz="1200" b="0">
                <a:solidFill>
                  <a:srgbClr val="6C6A76"/>
                </a:solidFill>
                <a:latin typeface="Inter"/>
              </a:rPr>
              <a:t>Elden Ring</a:t>
            </a:r>
          </a:p>
          <a:p>
            <a:pPr algn="l">
              <a:lnSpc>
                <a:spcPct val="105000"/>
              </a:lnSpc>
              <a:spcAft>
                <a:spcPts val="400"/>
              </a:spcAft>
            </a:pPr>
            <a:r>
              <a:rPr sz="1200" b="0">
                <a:solidFill>
                  <a:srgbClr val="6C6A76"/>
                </a:solidFill>
                <a:latin typeface="Inter"/>
              </a:rPr>
              <a:t>Monster Hunter</a:t>
            </a:r>
          </a:p>
          <a:p>
            <a:pPr algn="l">
              <a:lnSpc>
                <a:spcPct val="105000"/>
              </a:lnSpc>
              <a:spcAft>
                <a:spcPts val="400"/>
              </a:spcAft>
            </a:pPr>
            <a:r>
              <a:rPr sz="1200" b="0">
                <a:solidFill>
                  <a:srgbClr val="6C6A76"/>
                </a:solidFill>
                <a:latin typeface="Inter"/>
              </a:rPr>
              <a:t>Terra Nil</a:t>
            </a:r>
          </a:p>
        </p:txBody>
      </p:sp>
      <p:sp>
        <p:nvSpPr>
          <p:cNvPr id="9" name="TextBox 8"/>
          <p:cNvSpPr txBox="1"/>
          <p:nvPr/>
        </p:nvSpPr>
        <p:spPr>
          <a:xfrm>
            <a:off x="10253167" y="6199632"/>
            <a:ext cx="1097280" cy="320040"/>
          </a:xfrm>
          <a:prstGeom prst="rect">
            <a:avLst/>
          </a:prstGeom>
          <a:noFill/>
        </p:spPr>
        <p:txBody>
          <a:bodyPr wrap="square" anchor="t" lIns="0" rIns="0" tIns="0" bIns="0">
            <a:spAutoFit/>
          </a:bodyPr>
          <a:lstStyle/>
          <a:p>
            <a:pPr algn="r">
              <a:spcAft>
                <a:spcPts val="0"/>
              </a:spcAft>
            </a:pPr>
            <a:r>
              <a:rPr sz="1000" b="0">
                <a:solidFill>
                  <a:srgbClr val="9B99A4"/>
                </a:solidFill>
                <a:latin typeface="JetBrains Mono"/>
              </a:rPr>
              <a:t>10</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6F5F2"/>
        </a:solidFill>
        <a:effectLst/>
      </p:bgPr>
    </p:bg>
    <p:spTree>
      <p:nvGrpSpPr>
        <p:cNvPr id="1" name=""/>
        <p:cNvGrpSpPr/>
        <p:nvPr/>
      </p:nvGrpSpPr>
      <p:grpSpPr/>
      <p:sp>
        <p:nvSpPr>
          <p:cNvPr id="2" name="TextBox 1"/>
          <p:cNvSpPr txBox="1"/>
          <p:nvPr/>
        </p:nvSpPr>
        <p:spPr>
          <a:xfrm>
            <a:off x="841248" y="457200"/>
            <a:ext cx="6305519" cy="365760"/>
          </a:xfrm>
          <a:prstGeom prst="rect">
            <a:avLst/>
          </a:prstGeom>
          <a:noFill/>
        </p:spPr>
        <p:txBody>
          <a:bodyPr wrap="square" anchor="t" lIns="0" rIns="0" tIns="0" bIns="0">
            <a:spAutoFit/>
          </a:bodyPr>
          <a:lstStyle/>
          <a:p>
            <a:pPr algn="l">
              <a:spcAft>
                <a:spcPts val="0"/>
              </a:spcAft>
            </a:pPr>
            <a:r>
              <a:rPr sz="1300" b="1">
                <a:solidFill>
                  <a:srgbClr val="14131A"/>
                </a:solidFill>
                <a:latin typeface="Playfair Display"/>
              </a:rPr>
              <a:t>Digital</a:t>
            </a:r>
            <a:r>
              <a:rPr sz="1300" b="0">
                <a:solidFill>
                  <a:srgbClr val="6C6A76"/>
                </a:solidFill>
                <a:latin typeface="Playfair Display"/>
              </a:rPr>
              <a:t> Experiments</a:t>
            </a:r>
          </a:p>
        </p:txBody>
      </p:sp>
      <p:sp>
        <p:nvSpPr>
          <p:cNvPr id="3" name="TextBox 2"/>
          <p:cNvSpPr txBox="1"/>
          <p:nvPr/>
        </p:nvSpPr>
        <p:spPr>
          <a:xfrm>
            <a:off x="7146767" y="457200"/>
            <a:ext cx="4203679" cy="365760"/>
          </a:xfrm>
          <a:prstGeom prst="rect">
            <a:avLst/>
          </a:prstGeom>
          <a:noFill/>
        </p:spPr>
        <p:txBody>
          <a:bodyPr wrap="square" anchor="t" lIns="0" rIns="0" tIns="0" bIns="0">
            <a:spAutoFit/>
          </a:bodyPr>
          <a:lstStyle/>
          <a:p>
            <a:pPr algn="r">
              <a:spcAft>
                <a:spcPts val="0"/>
              </a:spcAft>
            </a:pPr>
            <a:r>
              <a:rPr sz="1050" b="0" spc="120">
                <a:solidFill>
                  <a:srgbClr val="6C6A76"/>
                </a:solidFill>
                <a:latin typeface="JetBrains Mono"/>
              </a:rPr>
              <a:t>Team · 6 / 6</a:t>
            </a:r>
          </a:p>
        </p:txBody>
      </p:sp>
      <p:sp>
        <p:nvSpPr>
          <p:cNvPr id="4" name="TextBox 3"/>
          <p:cNvSpPr txBox="1"/>
          <p:nvPr/>
        </p:nvSpPr>
        <p:spPr>
          <a:xfrm>
            <a:off x="841248" y="1143000"/>
            <a:ext cx="10509199" cy="1188720"/>
          </a:xfrm>
          <a:prstGeom prst="rect">
            <a:avLst/>
          </a:prstGeom>
          <a:noFill/>
        </p:spPr>
        <p:txBody>
          <a:bodyPr wrap="square" anchor="t" lIns="0" rIns="0" tIns="0" bIns="0">
            <a:spAutoFit/>
          </a:bodyPr>
          <a:lstStyle/>
          <a:p>
            <a:pPr algn="l">
              <a:spcAft>
                <a:spcPts val="400"/>
              </a:spcAft>
            </a:pPr>
            <a:r>
              <a:rPr sz="3400" b="0">
                <a:solidFill>
                  <a:srgbClr val="14131A"/>
                </a:solidFill>
                <a:latin typeface="Playfair Display"/>
              </a:rPr>
              <a:t>Leslie Crystal</a:t>
            </a:r>
          </a:p>
          <a:p>
            <a:pPr algn="l">
              <a:spcAft>
                <a:spcPts val="600"/>
              </a:spcAft>
            </a:pPr>
            <a:r>
              <a:rPr sz="1200" b="0" spc="80">
                <a:solidFill>
                  <a:srgbClr val="5B53E0"/>
                </a:solidFill>
                <a:latin typeface="JetBrains Mono"/>
              </a:rPr>
              <a:t>ASSOCIATE PRODUCER · OPERATIONS MANAGER</a:t>
            </a:r>
          </a:p>
        </p:txBody>
      </p:sp>
      <p:sp>
        <p:nvSpPr>
          <p:cNvPr id="5" name="TextBox 4"/>
          <p:cNvSpPr txBox="1"/>
          <p:nvPr/>
        </p:nvSpPr>
        <p:spPr>
          <a:xfrm>
            <a:off x="841248" y="2423160"/>
            <a:ext cx="10509199" cy="1920240"/>
          </a:xfrm>
          <a:prstGeom prst="rect">
            <a:avLst/>
          </a:prstGeom>
          <a:noFill/>
        </p:spPr>
        <p:txBody>
          <a:bodyPr wrap="square" anchor="t" lIns="0" rIns="0" tIns="0" bIns="0">
            <a:spAutoFit/>
          </a:bodyPr>
          <a:lstStyle/>
          <a:p>
            <a:pPr algn="l">
              <a:lnSpc>
                <a:spcPct val="150000"/>
              </a:lnSpc>
              <a:spcAft>
                <a:spcPts val="600"/>
              </a:spcAft>
            </a:pPr>
            <a:r>
              <a:rPr sz="1500" b="0">
                <a:solidFill>
                  <a:srgbClr val="1D1D1D"/>
                </a:solidFill>
                <a:latin typeface="Inter"/>
              </a:rPr>
              <a:t>With a lifelong love for RPG’s and nearly two decades as a paralegal + legal ghostwriter (intellectual property law, employment law, corporate compliance/business operations, et al.), Leslie pivoted into the world of game design and development in 2020. Since then, Leslie has served as the production scrum master for Tochi (Snackpass), B4CKP4CK (Studio Rebase), Begone Beast (Studio Tandemi), Town of Zoz (Studio Pixanoh), and a number of unannounced projects under game designer Alexander Brazie and Atomech LLC. Leslie currently serves as the Operations Manager for Digital Experiments, providing the organizational support and administrative framework to a talented group of artists, engineers, and designers headed by Director and UX/UI Trailblazer, Irena Pereira.</a:t>
            </a:r>
          </a:p>
        </p:txBody>
      </p:sp>
      <p:sp>
        <p:nvSpPr>
          <p:cNvPr id="6" name="TextBox 5"/>
          <p:cNvSpPr txBox="1"/>
          <p:nvPr/>
        </p:nvSpPr>
        <p:spPr>
          <a:xfrm>
            <a:off x="841248" y="4663440"/>
            <a:ext cx="3383280" cy="1828800"/>
          </a:xfrm>
          <a:prstGeom prst="rect">
            <a:avLst/>
          </a:prstGeom>
          <a:noFill/>
        </p:spPr>
        <p:txBody>
          <a:bodyPr wrap="square" anchor="t" lIns="0" rIns="0" tIns="0" bIns="0">
            <a:spAutoFit/>
          </a:bodyPr>
          <a:lstStyle/>
          <a:p>
            <a:pPr algn="l">
              <a:spcAft>
                <a:spcPts val="800"/>
              </a:spcAft>
            </a:pPr>
            <a:r>
              <a:rPr sz="1100" b="0" spc="120">
                <a:solidFill>
                  <a:srgbClr val="5B53E0"/>
                </a:solidFill>
                <a:latin typeface="JetBrains Mono"/>
              </a:rPr>
              <a:t>SKILLS</a:t>
            </a:r>
          </a:p>
          <a:p>
            <a:pPr algn="l">
              <a:lnSpc>
                <a:spcPct val="105000"/>
              </a:lnSpc>
              <a:spcAft>
                <a:spcPts val="400"/>
              </a:spcAft>
            </a:pPr>
            <a:r>
              <a:rPr sz="1200" b="0">
                <a:solidFill>
                  <a:srgbClr val="6C6A76"/>
                </a:solidFill>
                <a:latin typeface="Inter"/>
              </a:rPr>
              <a:t>Team Organization</a:t>
            </a:r>
          </a:p>
          <a:p>
            <a:pPr algn="l">
              <a:lnSpc>
                <a:spcPct val="105000"/>
              </a:lnSpc>
              <a:spcAft>
                <a:spcPts val="400"/>
              </a:spcAft>
            </a:pPr>
            <a:r>
              <a:rPr sz="1200" b="0">
                <a:solidFill>
                  <a:srgbClr val="6C6A76"/>
                </a:solidFill>
                <a:latin typeface="Inter"/>
              </a:rPr>
              <a:t>Project Production &amp; Development</a:t>
            </a:r>
          </a:p>
          <a:p>
            <a:pPr algn="l">
              <a:lnSpc>
                <a:spcPct val="105000"/>
              </a:lnSpc>
              <a:spcAft>
                <a:spcPts val="400"/>
              </a:spcAft>
            </a:pPr>
            <a:r>
              <a:rPr sz="1200" b="0">
                <a:solidFill>
                  <a:srgbClr val="6C6A76"/>
                </a:solidFill>
                <a:latin typeface="Inter"/>
              </a:rPr>
              <a:t>Legal / Business Operations</a:t>
            </a:r>
          </a:p>
          <a:p>
            <a:pPr algn="l">
              <a:lnSpc>
                <a:spcPct val="105000"/>
              </a:lnSpc>
              <a:spcAft>
                <a:spcPts val="400"/>
              </a:spcAft>
            </a:pPr>
            <a:r>
              <a:rPr sz="1200" b="0">
                <a:solidFill>
                  <a:srgbClr val="6C6A76"/>
                </a:solidFill>
                <a:latin typeface="Inter"/>
              </a:rPr>
              <a:t>Google, Adobe &amp; Office Suite</a:t>
            </a:r>
          </a:p>
        </p:txBody>
      </p:sp>
      <p:sp>
        <p:nvSpPr>
          <p:cNvPr id="7" name="TextBox 6"/>
          <p:cNvSpPr txBox="1"/>
          <p:nvPr/>
        </p:nvSpPr>
        <p:spPr>
          <a:xfrm>
            <a:off x="4608576" y="4663440"/>
            <a:ext cx="3383280" cy="1828800"/>
          </a:xfrm>
          <a:prstGeom prst="rect">
            <a:avLst/>
          </a:prstGeom>
          <a:noFill/>
        </p:spPr>
        <p:txBody>
          <a:bodyPr wrap="square" anchor="t" lIns="0" rIns="0" tIns="0" bIns="0">
            <a:spAutoFit/>
          </a:bodyPr>
          <a:lstStyle/>
          <a:p>
            <a:pPr algn="l">
              <a:spcAft>
                <a:spcPts val="800"/>
              </a:spcAft>
            </a:pPr>
            <a:r>
              <a:rPr sz="1100" b="0" spc="120">
                <a:solidFill>
                  <a:srgbClr val="5B53E0"/>
                </a:solidFill>
                <a:latin typeface="JetBrains Mono"/>
              </a:rPr>
              <a:t>HOBBIES</a:t>
            </a:r>
          </a:p>
          <a:p>
            <a:pPr algn="l">
              <a:lnSpc>
                <a:spcPct val="105000"/>
              </a:lnSpc>
              <a:spcAft>
                <a:spcPts val="400"/>
              </a:spcAft>
            </a:pPr>
            <a:r>
              <a:rPr sz="1200" b="0">
                <a:solidFill>
                  <a:srgbClr val="6C6A76"/>
                </a:solidFill>
                <a:latin typeface="Inter"/>
              </a:rPr>
              <a:t>Tarot &amp; The Arcane</a:t>
            </a:r>
          </a:p>
          <a:p>
            <a:pPr algn="l">
              <a:lnSpc>
                <a:spcPct val="105000"/>
              </a:lnSpc>
              <a:spcAft>
                <a:spcPts val="400"/>
              </a:spcAft>
            </a:pPr>
            <a:r>
              <a:rPr sz="1200" b="0">
                <a:solidFill>
                  <a:srgbClr val="6C6A76"/>
                </a:solidFill>
                <a:latin typeface="Inter"/>
              </a:rPr>
              <a:t>Homesteading</a:t>
            </a:r>
          </a:p>
          <a:p>
            <a:pPr algn="l">
              <a:lnSpc>
                <a:spcPct val="105000"/>
              </a:lnSpc>
              <a:spcAft>
                <a:spcPts val="400"/>
              </a:spcAft>
            </a:pPr>
            <a:r>
              <a:rPr sz="1200" b="0">
                <a:solidFill>
                  <a:srgbClr val="6C6A76"/>
                </a:solidFill>
                <a:latin typeface="Inter"/>
              </a:rPr>
              <a:t>Handcrafted Cosmetics</a:t>
            </a:r>
          </a:p>
          <a:p>
            <a:pPr algn="l">
              <a:lnSpc>
                <a:spcPct val="105000"/>
              </a:lnSpc>
              <a:spcAft>
                <a:spcPts val="400"/>
              </a:spcAft>
            </a:pPr>
            <a:r>
              <a:rPr sz="1200" b="0">
                <a:solidFill>
                  <a:srgbClr val="6C6A76"/>
                </a:solidFill>
                <a:latin typeface="Inter"/>
              </a:rPr>
              <a:t>Embroidery</a:t>
            </a:r>
          </a:p>
        </p:txBody>
      </p:sp>
      <p:sp>
        <p:nvSpPr>
          <p:cNvPr id="8" name="TextBox 7"/>
          <p:cNvSpPr txBox="1"/>
          <p:nvPr/>
        </p:nvSpPr>
        <p:spPr>
          <a:xfrm>
            <a:off x="8375904" y="4663440"/>
            <a:ext cx="3383280" cy="1828800"/>
          </a:xfrm>
          <a:prstGeom prst="rect">
            <a:avLst/>
          </a:prstGeom>
          <a:noFill/>
        </p:spPr>
        <p:txBody>
          <a:bodyPr wrap="square" anchor="t" lIns="0" rIns="0" tIns="0" bIns="0">
            <a:spAutoFit/>
          </a:bodyPr>
          <a:lstStyle/>
          <a:p>
            <a:pPr algn="l">
              <a:spcAft>
                <a:spcPts val="800"/>
              </a:spcAft>
            </a:pPr>
            <a:r>
              <a:rPr sz="1100" b="0" spc="120">
                <a:solidFill>
                  <a:srgbClr val="5B53E0"/>
                </a:solidFill>
                <a:latin typeface="JetBrains Mono"/>
              </a:rPr>
              <a:t>FAVORITE GAMES</a:t>
            </a:r>
          </a:p>
          <a:p>
            <a:pPr algn="l">
              <a:lnSpc>
                <a:spcPct val="105000"/>
              </a:lnSpc>
              <a:spcAft>
                <a:spcPts val="400"/>
              </a:spcAft>
            </a:pPr>
            <a:r>
              <a:rPr sz="1200" b="0">
                <a:solidFill>
                  <a:srgbClr val="6C6A76"/>
                </a:solidFill>
                <a:latin typeface="Inter"/>
              </a:rPr>
              <a:t>World of Warcraft</a:t>
            </a:r>
          </a:p>
          <a:p>
            <a:pPr algn="l">
              <a:lnSpc>
                <a:spcPct val="105000"/>
              </a:lnSpc>
              <a:spcAft>
                <a:spcPts val="400"/>
              </a:spcAft>
            </a:pPr>
            <a:r>
              <a:rPr sz="1200" b="0">
                <a:solidFill>
                  <a:srgbClr val="6C6A76"/>
                </a:solidFill>
                <a:latin typeface="Inter"/>
              </a:rPr>
              <a:t>Witchy Life Story</a:t>
            </a:r>
          </a:p>
          <a:p>
            <a:pPr algn="l">
              <a:lnSpc>
                <a:spcPct val="105000"/>
              </a:lnSpc>
              <a:spcAft>
                <a:spcPts val="400"/>
              </a:spcAft>
            </a:pPr>
            <a:r>
              <a:rPr sz="1200" b="0">
                <a:solidFill>
                  <a:srgbClr val="6C6A76"/>
                </a:solidFill>
                <a:latin typeface="Inter"/>
              </a:rPr>
              <a:t>The Witcher</a:t>
            </a:r>
          </a:p>
          <a:p>
            <a:pPr algn="l">
              <a:lnSpc>
                <a:spcPct val="105000"/>
              </a:lnSpc>
              <a:spcAft>
                <a:spcPts val="400"/>
              </a:spcAft>
            </a:pPr>
            <a:r>
              <a:rPr sz="1200" b="0">
                <a:solidFill>
                  <a:srgbClr val="6C6A76"/>
                </a:solidFill>
                <a:latin typeface="Inter"/>
              </a:rPr>
              <a:t>Wylde Flowers</a:t>
            </a:r>
          </a:p>
        </p:txBody>
      </p:sp>
      <p:sp>
        <p:nvSpPr>
          <p:cNvPr id="9" name="TextBox 8"/>
          <p:cNvSpPr txBox="1"/>
          <p:nvPr/>
        </p:nvSpPr>
        <p:spPr>
          <a:xfrm>
            <a:off x="10253167" y="6199632"/>
            <a:ext cx="1097280" cy="320040"/>
          </a:xfrm>
          <a:prstGeom prst="rect">
            <a:avLst/>
          </a:prstGeom>
          <a:noFill/>
        </p:spPr>
        <p:txBody>
          <a:bodyPr wrap="square" anchor="t" lIns="0" rIns="0" tIns="0" bIns="0">
            <a:spAutoFit/>
          </a:bodyPr>
          <a:lstStyle/>
          <a:p>
            <a:pPr algn="r">
              <a:spcAft>
                <a:spcPts val="0"/>
              </a:spcAft>
            </a:pPr>
            <a:r>
              <a:rPr sz="1000" b="0">
                <a:solidFill>
                  <a:srgbClr val="9B99A4"/>
                </a:solidFill>
                <a:latin typeface="JetBrains Mono"/>
              </a:rPr>
              <a:t>11</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5B53E0"/>
        </a:solidFill>
        <a:effectLst/>
      </p:bgPr>
    </p:bg>
    <p:spTree>
      <p:nvGrpSpPr>
        <p:cNvPr id="1" name=""/>
        <p:cNvGrpSpPr/>
        <p:nvPr/>
      </p:nvGrpSpPr>
      <p:grpSpPr/>
      <p:sp>
        <p:nvSpPr>
          <p:cNvPr id="2" name="TextBox 1"/>
          <p:cNvSpPr txBox="1"/>
          <p:nvPr/>
        </p:nvSpPr>
        <p:spPr>
          <a:xfrm>
            <a:off x="841248" y="457200"/>
            <a:ext cx="6305519" cy="365760"/>
          </a:xfrm>
          <a:prstGeom prst="rect">
            <a:avLst/>
          </a:prstGeom>
          <a:noFill/>
        </p:spPr>
        <p:txBody>
          <a:bodyPr wrap="square" anchor="t" lIns="0" rIns="0" tIns="0" bIns="0">
            <a:spAutoFit/>
          </a:bodyPr>
          <a:lstStyle/>
          <a:p>
            <a:pPr algn="l">
              <a:spcAft>
                <a:spcPts val="0"/>
              </a:spcAft>
            </a:pPr>
            <a:r>
              <a:rPr sz="1300" b="1">
                <a:solidFill>
                  <a:srgbClr val="F5F4F7"/>
                </a:solidFill>
                <a:latin typeface="Playfair Display"/>
              </a:rPr>
              <a:t>Digital</a:t>
            </a:r>
            <a:r>
              <a:rPr sz="1300" b="0">
                <a:solidFill>
                  <a:srgbClr val="B5B2C2"/>
                </a:solidFill>
                <a:latin typeface="Playfair Display"/>
              </a:rPr>
              <a:t> Experiments</a:t>
            </a:r>
          </a:p>
        </p:txBody>
      </p:sp>
      <p:sp>
        <p:nvSpPr>
          <p:cNvPr id="3" name="TextBox 2"/>
          <p:cNvSpPr txBox="1"/>
          <p:nvPr/>
        </p:nvSpPr>
        <p:spPr>
          <a:xfrm>
            <a:off x="7146767" y="457200"/>
            <a:ext cx="4203679" cy="365760"/>
          </a:xfrm>
          <a:prstGeom prst="rect">
            <a:avLst/>
          </a:prstGeom>
          <a:noFill/>
        </p:spPr>
        <p:txBody>
          <a:bodyPr wrap="square" anchor="t" lIns="0" rIns="0" tIns="0" bIns="0">
            <a:spAutoFit/>
          </a:bodyPr>
          <a:lstStyle/>
          <a:p>
            <a:pPr algn="r">
              <a:spcAft>
                <a:spcPts val="0"/>
              </a:spcAft>
            </a:pPr>
            <a:r>
              <a:rPr sz="1050" b="0" spc="120">
                <a:solidFill>
                  <a:srgbClr val="B5B2C2"/>
                </a:solidFill>
                <a:latin typeface="JetBrains Mono"/>
              </a:rPr>
              <a:t>Let’s talk</a:t>
            </a:r>
          </a:p>
        </p:txBody>
      </p:sp>
      <p:sp>
        <p:nvSpPr>
          <p:cNvPr id="4" name="TextBox 3"/>
          <p:cNvSpPr txBox="1"/>
          <p:nvPr/>
        </p:nvSpPr>
        <p:spPr>
          <a:xfrm>
            <a:off x="841248" y="2194560"/>
            <a:ext cx="10509199" cy="2743200"/>
          </a:xfrm>
          <a:prstGeom prst="rect">
            <a:avLst/>
          </a:prstGeom>
          <a:noFill/>
        </p:spPr>
        <p:txBody>
          <a:bodyPr wrap="square" anchor="t" lIns="0" rIns="0" tIns="0" bIns="0">
            <a:spAutoFit/>
          </a:bodyPr>
          <a:lstStyle/>
          <a:p>
            <a:pPr algn="l">
              <a:spcAft>
                <a:spcPts val="1200"/>
              </a:spcAft>
            </a:pPr>
            <a:r>
              <a:rPr sz="1150" b="0" spc="180">
                <a:solidFill>
                  <a:srgbClr val="FFFFFF"/>
                </a:solidFill>
                <a:latin typeface="JetBrains Mono"/>
              </a:rPr>
              <a:t>LET’S BUILD SOMETHING PLAYERS LOVE</a:t>
            </a:r>
          </a:p>
          <a:p>
            <a:pPr algn="l">
              <a:lnSpc>
                <a:spcPct val="105000"/>
              </a:lnSpc>
              <a:spcAft>
                <a:spcPts val="1600"/>
              </a:spcAft>
            </a:pPr>
            <a:r>
              <a:rPr sz="5000" b="0">
                <a:solidFill>
                  <a:srgbClr val="FFFFFF"/>
                </a:solidFill>
                <a:latin typeface="Playfair Display"/>
              </a:rPr>
              <a:t>better design, better games.</a:t>
            </a:r>
          </a:p>
          <a:p>
            <a:pPr algn="l">
              <a:spcAft>
                <a:spcPts val="1000"/>
              </a:spcAft>
            </a:pPr>
            <a:r>
              <a:rPr sz="1500" b="0">
                <a:solidFill>
                  <a:srgbClr val="FFFFFF"/>
                </a:solidFill>
                <a:latin typeface="JetBrains Mono"/>
              </a:rPr>
              <a:t>sayhi@digitalexperiments.com    ·    www.digitalexperiments.com</a:t>
            </a:r>
          </a:p>
          <a:p>
            <a:pPr algn="l">
              <a:spcAft>
                <a:spcPts val="600"/>
              </a:spcAft>
            </a:pPr>
            <a:r>
              <a:rPr sz="1200" b="0">
                <a:solidFill>
                  <a:srgbClr val="ECEAFB"/>
                </a:solidFill>
                <a:latin typeface="Inter"/>
              </a:rPr>
              <a:t>Digital Experiments — bespoke Game UX &amp; Player Research</a:t>
            </a:r>
          </a:p>
        </p:txBody>
      </p:sp>
      <p:sp>
        <p:nvSpPr>
          <p:cNvPr id="5" name="TextBox 4"/>
          <p:cNvSpPr txBox="1"/>
          <p:nvPr/>
        </p:nvSpPr>
        <p:spPr>
          <a:xfrm>
            <a:off x="10253167" y="6199632"/>
            <a:ext cx="1097280" cy="320040"/>
          </a:xfrm>
          <a:prstGeom prst="rect">
            <a:avLst/>
          </a:prstGeom>
          <a:noFill/>
        </p:spPr>
        <p:txBody>
          <a:bodyPr wrap="square" anchor="t" lIns="0" rIns="0" tIns="0" bIns="0">
            <a:spAutoFit/>
          </a:bodyPr>
          <a:lstStyle/>
          <a:p>
            <a:pPr algn="r">
              <a:spcAft>
                <a:spcPts val="0"/>
              </a:spcAft>
            </a:pPr>
            <a:r>
              <a:rPr sz="1000" b="0">
                <a:solidFill>
                  <a:srgbClr val="B5B2C2"/>
                </a:solidFill>
                <a:latin typeface="JetBrains Mono"/>
              </a:rPr>
              <a:t>12</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